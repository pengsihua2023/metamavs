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· DETAILED PROJECT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Metagenomic Multi-Agent Virus Surveillance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LangGraph-based, scientifically-cautious multi-agent system for viral surveillance from wastewater, environmental &amp; clinical metagenomes.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5120640" cy="9601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794760"/>
            <a:ext cx="82296" cy="9601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4416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nodes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3794760"/>
            <a:ext cx="5120640" cy="9601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3794760"/>
            <a:ext cx="82296" cy="9601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4416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(all fired on real data)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5120640" cy="9601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937760"/>
            <a:ext cx="82296" cy="96012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074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5559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layers (AWS·Sapelo2·GPU)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937760"/>
            <a:ext cx="5120640" cy="9601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937760"/>
            <a:ext cx="82296" cy="96012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5074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4 E2B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5559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default backend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Sihua Peng · University of Georgia · synthesis of 9 project decks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640080"/>
            <a:ext cx="45720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2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3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MetaMAVS, and what it 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surveillance challenge · the system · design principles · scientific caution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MetaMAVS — the surveillance challenge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5321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553212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noisy data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Wastewater/environmental metagenomes mix host, bacteria, phage and rare viral signals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real signal is a tiny fraction; contamination and low-complexity hits abound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1732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00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fragile manual steps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16712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→ host removal → detection → taxonomy → abundance → novelty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break, hard to reproduce, no consistent record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48640" y="3931920"/>
            <a:ext cx="55321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931920"/>
            <a:ext cx="553212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3" name="Shape 19"/>
          <p:cNvSpPr/>
          <p:nvPr/>
        </p:nvSpPr>
        <p:spPr>
          <a:xfrm>
            <a:off x="768096" y="41330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423367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over-claiming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2960" y="468172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metagenomic hits mistaken for confirmed pathogens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Without careful flagging, a few reads read as an 'outbreak'</a:t>
            </a:r>
            <a:endParaRPr lang="en-US" sz="1080" dirty="0"/>
          </a:p>
        </p:txBody>
      </p:sp>
      <p:sp>
        <p:nvSpPr>
          <p:cNvPr id="27" name="Shape 22"/>
          <p:cNvSpPr/>
          <p:nvPr/>
        </p:nvSpPr>
        <p:spPr>
          <a:xfrm>
            <a:off x="6172200" y="3931920"/>
            <a:ext cx="54864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172200" y="393192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9" name="Shape 24"/>
          <p:cNvSpPr/>
          <p:nvPr/>
        </p:nvSpPr>
        <p:spPr>
          <a:xfrm>
            <a:off x="6391656" y="41330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92240" y="4233672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49440" y="4114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coordination layer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446520" y="468172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pipelines lack decision logic, human review and error handling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Nothing routes, pauses, or recovers across steps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MetaMAVS?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research-grade system that processes metagenomic data, detects known &amp; potential viral signals, classifies them, tracks abundance trends, screens novelty, assesses epidemiological risk, and writes surveillance reports — orchestrated as a LangGraph state machine.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53872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3538728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" y="257860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679192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25603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3127248"/>
            <a:ext cx="29900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Scientifically cautious: 'detected signal', not 'confirmed infection'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overstates weak evidence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confirmatory testing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325112" y="2377440"/>
            <a:ext cx="353872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25112" y="2377440"/>
            <a:ext cx="3538728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8" name="Shape 15"/>
          <p:cNvSpPr/>
          <p:nvPr/>
        </p:nvSpPr>
        <p:spPr>
          <a:xfrm>
            <a:off x="4544568" y="257860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267919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02352" y="25603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99432" y="3127248"/>
            <a:ext cx="29900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sequential script — a LangGraph StateGraph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nodes + conditional routing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Checkpointing &amp; human-in-the-loop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8101584" y="2377440"/>
            <a:ext cx="3538728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01584" y="2377440"/>
            <a:ext cx="3538728" cy="8229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4" name="Shape 20"/>
          <p:cNvSpPr/>
          <p:nvPr/>
        </p:nvSpPr>
        <p:spPr>
          <a:xfrm>
            <a:off x="8321040" y="257860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21624" y="2679192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78824" y="25603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75904" y="3127248"/>
            <a:ext cx="29900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&amp; key-free by default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nodes become NCBI-grounded LLM agents when enabled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cloud key ever required to run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design philosophy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5321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machine, not a script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Conditional routing, error diversion, human-in-the-loop, checkpointing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Impossible to express cleanly in a flat script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1732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00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state flows through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16712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node returns a partial update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warnings/errors/log use add-reducers — append, never overwrite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48640" y="3931920"/>
            <a:ext cx="55321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931920"/>
            <a:ext cx="5532120" cy="8229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3" name="Shape 19"/>
          <p:cNvSpPr/>
          <p:nvPr/>
        </p:nvSpPr>
        <p:spPr>
          <a:xfrm>
            <a:off x="768096" y="413308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423367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dependency centralized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2960" y="468172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graph.py imports LangGraph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16 nodes stay pure, independently testable functions</a:t>
            </a:r>
            <a:endParaRPr lang="en-US" sz="1080" dirty="0"/>
          </a:p>
        </p:txBody>
      </p:sp>
      <p:sp>
        <p:nvSpPr>
          <p:cNvPr id="27" name="Shape 22"/>
          <p:cNvSpPr/>
          <p:nvPr/>
        </p:nvSpPr>
        <p:spPr>
          <a:xfrm>
            <a:off x="6172200" y="3931920"/>
            <a:ext cx="54864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172200" y="3931920"/>
            <a:ext cx="548640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29" name="Shape 24"/>
          <p:cNvSpPr/>
          <p:nvPr/>
        </p:nvSpPr>
        <p:spPr>
          <a:xfrm>
            <a:off x="6391656" y="413308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92240" y="4233672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49440" y="4114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446520" y="468172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Orchestration (LangGraph) · nodes (agents)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Utilities · data validation (pydantic) — clearly split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640080"/>
            <a:ext cx="45720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2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3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LangGraph workflow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nodes · shared state · conditional routing · human review · error handling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16-node surveillance pipeline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1405719" cy="6035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54480"/>
            <a:ext cx="1314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45799" y="155448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73815" y="1554480"/>
            <a:ext cx="1405719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2219535" y="1554480"/>
            <a:ext cx="1314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79535" y="155448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7551" y="1554480"/>
            <a:ext cx="1686863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6" name="Text 14"/>
          <p:cNvSpPr/>
          <p:nvPr/>
        </p:nvSpPr>
        <p:spPr>
          <a:xfrm>
            <a:off x="3753271" y="1554480"/>
            <a:ext cx="15954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removal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414" y="155448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22430" y="1554480"/>
            <a:ext cx="1827435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7"/>
          <p:cNvSpPr/>
          <p:nvPr/>
        </p:nvSpPr>
        <p:spPr>
          <a:xfrm>
            <a:off x="5568150" y="1554480"/>
            <a:ext cx="17359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49865" y="155448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77881" y="1554480"/>
            <a:ext cx="1546291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2" name="Text 20"/>
          <p:cNvSpPr/>
          <p:nvPr/>
        </p:nvSpPr>
        <p:spPr>
          <a:xfrm>
            <a:off x="7523601" y="1554480"/>
            <a:ext cx="14548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24173" y="155448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52189" y="1554480"/>
            <a:ext cx="1546291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5" name="Text 23"/>
          <p:cNvSpPr/>
          <p:nvPr/>
        </p:nvSpPr>
        <p:spPr>
          <a:xfrm>
            <a:off x="9197909" y="1554480"/>
            <a:ext cx="14548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331720"/>
            <a:ext cx="1686863" cy="6035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331720"/>
            <a:ext cx="15954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virus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26943" y="233172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54959" y="2331720"/>
            <a:ext cx="1405719" cy="6035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0" name="Text 28"/>
          <p:cNvSpPr/>
          <p:nvPr/>
        </p:nvSpPr>
        <p:spPr>
          <a:xfrm>
            <a:off x="2500679" y="2331720"/>
            <a:ext cx="1314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60679" y="233172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88695" y="2331720"/>
            <a:ext cx="1686863" cy="60350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33" name="Text 31"/>
          <p:cNvSpPr/>
          <p:nvPr/>
        </p:nvSpPr>
        <p:spPr>
          <a:xfrm>
            <a:off x="4034415" y="2331720"/>
            <a:ext cx="15954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75558" y="233172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03574" y="2331720"/>
            <a:ext cx="1827435" cy="6035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6" name="Text 34"/>
          <p:cNvSpPr/>
          <p:nvPr/>
        </p:nvSpPr>
        <p:spPr>
          <a:xfrm>
            <a:off x="5849294" y="2331720"/>
            <a:ext cx="17359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31009" y="233172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59025" y="2331720"/>
            <a:ext cx="1827435" cy="603504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9" name="Text 37"/>
          <p:cNvSpPr/>
          <p:nvPr/>
        </p:nvSpPr>
        <p:spPr>
          <a:xfrm>
            <a:off x="7804745" y="2331720"/>
            <a:ext cx="17359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586460" y="233172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714476" y="2331720"/>
            <a:ext cx="984004" cy="6035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9760196" y="2331720"/>
            <a:ext cx="892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3154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errors route to an error_handler that classifies severity and decides continue-or-stop; a conditional review router sends High/Critical or novel-candidate runs to human review.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3931920"/>
            <a:ext cx="36576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8640" y="3931920"/>
            <a:ext cx="365760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6" name="Shape 44"/>
          <p:cNvSpPr/>
          <p:nvPr/>
        </p:nvSpPr>
        <p:spPr>
          <a:xfrm>
            <a:off x="768096" y="41330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4233672"/>
            <a:ext cx="256032" cy="256032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325880" y="4114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822960" y="468172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step generates commands &amp; tables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Dry-run-capable, no external tools needed to test</a:t>
            </a:r>
            <a:endParaRPr lang="en-US" sz="1080" dirty="0"/>
          </a:p>
        </p:txBody>
      </p:sp>
      <p:sp>
        <p:nvSpPr>
          <p:cNvPr id="50" name="Shape 47"/>
          <p:cNvSpPr/>
          <p:nvPr/>
        </p:nvSpPr>
        <p:spPr>
          <a:xfrm>
            <a:off x="4325112" y="3931920"/>
            <a:ext cx="36576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325112" y="3931920"/>
            <a:ext cx="36576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2" name="Shape 49"/>
          <p:cNvSpPr/>
          <p:nvPr/>
        </p:nvSpPr>
        <p:spPr>
          <a:xfrm>
            <a:off x="4544568" y="41330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4233672"/>
            <a:ext cx="256032" cy="256032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5102352" y="4114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where it helps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4599432" y="468172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nodes gain an optional LLM interpretation layer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Additive; degrades to deterministic on any failure</a:t>
            </a:r>
            <a:endParaRPr lang="en-US" sz="1080" dirty="0"/>
          </a:p>
        </p:txBody>
      </p:sp>
      <p:sp>
        <p:nvSpPr>
          <p:cNvPr id="56" name="Shape 52"/>
          <p:cNvSpPr/>
          <p:nvPr/>
        </p:nvSpPr>
        <p:spPr>
          <a:xfrm>
            <a:off x="8101584" y="3931920"/>
            <a:ext cx="353872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57" name="Shape 53"/>
          <p:cNvSpPr/>
          <p:nvPr/>
        </p:nvSpPr>
        <p:spPr>
          <a:xfrm>
            <a:off x="8101584" y="3931920"/>
            <a:ext cx="3538728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8" name="Shape 54"/>
          <p:cNvSpPr/>
          <p:nvPr/>
        </p:nvSpPr>
        <p:spPr>
          <a:xfrm>
            <a:off x="8321040" y="413308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21624" y="4233672"/>
            <a:ext cx="256032" cy="256032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8878824" y="41148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recovery</a:t>
            </a:r>
            <a:endParaRPr lang="en-US" sz="1400" dirty="0"/>
          </a:p>
        </p:txBody>
      </p:sp>
      <p:sp>
        <p:nvSpPr>
          <p:cNvPr id="61" name="Text 56"/>
          <p:cNvSpPr/>
          <p:nvPr/>
        </p:nvSpPr>
        <p:spPr>
          <a:xfrm>
            <a:off x="8375904" y="4681728"/>
            <a:ext cx="2990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Conditional review router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error_handler: continue vs stop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state through every node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5321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MetaMAVSState (TypedDict)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structure flowing through all nodes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config, run_id, per-step paths &amp; summaries, warnings/errors, workflow_status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Declared channels — undeclared keys are dropped by LangGraph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1732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00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updates + reducers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167128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node returns only the fields it changes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warnings / errors / execution_log use operator.add (append)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 fields overwrite — explicit, predictable merges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48640" y="3977640"/>
            <a:ext cx="111099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977640"/>
            <a:ext cx="11109960" cy="8229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3" name="Shape 19"/>
          <p:cNvSpPr/>
          <p:nvPr/>
        </p:nvSpPr>
        <p:spPr>
          <a:xfrm>
            <a:off x="768096" y="417880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4279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4160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2960" y="4727448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declared, explicit state is what makes routing, checkpointing, pause/resume and human review possible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example fixed this session: checkv_contigs had to be declared in the schema or LangGraph silently dropped it — so novel_virus never saw the CheckV data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Routing, human review &amp; error handling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538728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3538728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review router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29900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human review when: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High/Critical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novel candidates detected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failure / low taxonomy confidence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warnings present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325112" y="1417320"/>
            <a:ext cx="3538728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25112" y="1417320"/>
            <a:ext cx="3538728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4544568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02352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99432" y="2167128"/>
            <a:ext cx="29900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mode: auto (simulate) / interactive / pause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pause: save state &amp; exit; approve later via `metamavs review`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Approval resumes → narrative → report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8101584" y="1417320"/>
            <a:ext cx="3538728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01584" y="1417320"/>
            <a:ext cx="3538728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3" name="Shape 19"/>
          <p:cNvSpPr/>
          <p:nvPr/>
        </p:nvSpPr>
        <p:spPr>
          <a:xfrm>
            <a:off x="8321040" y="16184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21624" y="171907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78824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375904" y="2167128"/>
            <a:ext cx="29900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Collects &amp; classifies errors by severity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Decides can_continue vs stop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error logs — prevents silent failures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640080"/>
            <a:ext cx="45720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2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3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agent-friendly tools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selection criteria · why some standard phylo tools are excluded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→ EXPANSION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MVP to a full surveillance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532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553212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an MVP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 far: viral detection + classification only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Minimum Viable Product — limited functionality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17320"/>
            <a:ext cx="548640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184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00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robust surveillance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16712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into molecular-epidemiology surveillance of wastewater viruses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QC, host removal, abundance, novelty, assembly, risk — as agents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48640" y="3886200"/>
            <a:ext cx="11109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886200"/>
            <a:ext cx="11109960" cy="8229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3" name="Shape 19"/>
          <p:cNvSpPr/>
          <p:nvPr/>
        </p:nvSpPr>
        <p:spPr>
          <a:xfrm>
            <a:off x="768096" y="408736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418795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4069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tools are chosen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2960" y="4636008"/>
            <a:ext cx="10561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Bioinformatics tools are integrated only if they are agent-friendly (next slide: 5 criteria)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route on tool results — the tool must be trustworthy, bounded, and machine-readable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next node/agent additions expand downstream analysis one deterministic step at a time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criteria for multi-agent tools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91672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371600"/>
            <a:ext cx="91440" cy="85953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" y="167335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14996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Deterministic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0" y="1499616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output. Agents route on results; random fluctuation breaks the decision chain.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340864"/>
            <a:ext cx="11091672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340864"/>
            <a:ext cx="91440" cy="85953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7824" y="2642616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Fast, bounded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72000" y="246888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runtime with a predictable upper bound. No hours/days-long calls in a loop.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3310128"/>
            <a:ext cx="11091672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310128"/>
            <a:ext cx="91440" cy="85953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3" name="Shape 19"/>
          <p:cNvSpPr/>
          <p:nvPr/>
        </p:nvSpPr>
        <p:spPr>
          <a:xfrm>
            <a:off x="777240" y="3511296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7824" y="3611880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343814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Self-contained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4572000" y="3438144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'Call once, get one answer' — not a whole workflow engine (no orchestrator-inside-an-orchestrator).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4279392"/>
            <a:ext cx="11091672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4279392"/>
            <a:ext cx="91440" cy="85953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9" name="Shape 24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7824" y="4581144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71600" y="44074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Actionable output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4572000" y="4407408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machine-readable, carries a semantic verdict the agent can route on directly.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5248656"/>
            <a:ext cx="11091672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5248656"/>
            <a:ext cx="91440" cy="85953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5" name="Shape 29"/>
          <p:cNvSpPr/>
          <p:nvPr/>
        </p:nvSpPr>
        <p:spPr>
          <a:xfrm>
            <a:off x="777240" y="5449824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7824" y="5550408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71600" y="53766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Fail-loud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4572000" y="537667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explicitly on bad input — never silently produces plausible-but-invalid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BEAST2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BEAST2 is not agent-suitable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53212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553212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BEAST2 (Bayesian phylodynamics)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4983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reproducible — MCMC gives different results each run; agents need consistent output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predictable runtime — hours to days, no reliable upper bound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a human to validate — you can't trust a run without checking convergence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inputs fail silently — bad model/prior → plausible but invalid results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17320"/>
            <a:ext cx="548640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184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00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agent-friendly looks like instead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167128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Deterministic, single-call classification/QC tools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clear pass/fail or clade/verdict the agent can route on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Bounded, fast runtime that fits a real-time pipeline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e.g. Nextclade-style lightweight, real-time placement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IQ-TREE &amp; NEXTSTRAIN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more tools that don't fit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53212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553212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IQ-TREE (ML phylogenetics)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4983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Unbounded runtime — ML tree search scales unpredictably with sequence count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Rebuilds the tree from scratch each call; real-time wants to place a new sequence into a known reference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actionable output — returns a tree, but no clade assignment / QC verdict to route on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1732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00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Nextstrain (workflow, not a tool)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167128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whole workflow: Augur chain + Auspice + Snakemake builds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Orchestrator-inside-an-orchestrator if embedded in LangGraph — messy &amp; redundant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for curated batch builds, not single calls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Redundant with Nextclade (its lightweight real-time counterpart)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640080"/>
            <a:ext cx="45720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2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3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tsv to the report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misconceptions · the deterministic chain · where the LLM sits · the prompts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 people usually get wrong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5321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553212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6420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6479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45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The report is not LLM-generated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212848"/>
            <a:ext cx="4983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report_writer is deterministic Python — no LLM call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model writes only ONE section (the narrative) + short [LLM] reasoning strings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assembles report.md from the state tables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63040"/>
            <a:ext cx="54864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63040"/>
            <a:ext cx="548640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6420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6479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459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The LLM never reads the raw tsv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212848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reads deterministically-computed summaries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GOTTCHA2/CheckV tsv are parsed → tables → summaries → JSON prompt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'Use only this data' — no invented numbers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"Gemma/Claude produced the report" really means: the model wrote the interpretation paragraph that the deterministic writer embedded.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chain, then the LLM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1380193" cy="6035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08760"/>
            <a:ext cx="12887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.tsv + lineage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0273" y="150876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289" y="1508760"/>
            <a:ext cx="2760386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009" y="1508760"/>
            <a:ext cx="26689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parse_gottcha2 / checkv / homology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08675" y="150876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36691" y="1508760"/>
            <a:ext cx="2530354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6" name="Text 14"/>
          <p:cNvSpPr/>
          <p:nvPr/>
        </p:nvSpPr>
        <p:spPr>
          <a:xfrm>
            <a:off x="5082411" y="1508760"/>
            <a:ext cx="24389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→ abundance → 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67046" y="150876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5062" y="1508760"/>
            <a:ext cx="1380193" cy="6035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9" name="Text 17"/>
          <p:cNvSpPr/>
          <p:nvPr/>
        </p:nvSpPr>
        <p:spPr>
          <a:xfrm>
            <a:off x="7740782" y="1508760"/>
            <a:ext cx="12887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75255" y="150876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03271" y="1508760"/>
            <a:ext cx="1495209" cy="603504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2" name="Text 20"/>
          <p:cNvSpPr/>
          <p:nvPr/>
        </p:nvSpPr>
        <p:spPr>
          <a:xfrm>
            <a:off x="9248991" y="1508760"/>
            <a:ext cx="140376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331720"/>
            <a:ext cx="55321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33172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25328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633472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computes the numbers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2960" y="3081528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Parsers normalize tool outputs → 8 tables/*.csv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taxonomy / abundance / risk agents compute summaries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LLM never recomputes numbers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6172200" y="2331720"/>
            <a:ext cx="5486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172200" y="233172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1" name="Shape 28"/>
          <p:cNvSpPr/>
          <p:nvPr/>
        </p:nvSpPr>
        <p:spPr>
          <a:xfrm>
            <a:off x="6391656" y="25328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2633472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949440" y="25146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interprets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6446520" y="308152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the computed summaries (not raw tsv)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Writes the narrative + [LLM] reasoning strings</a:t>
            </a:r>
            <a:endParaRPr lang="en-US" sz="1080" dirty="0"/>
          </a:p>
        </p:txBody>
      </p:sp>
      <p:sp>
        <p:nvSpPr>
          <p:cNvPr id="35" name="Shape 31"/>
          <p:cNvSpPr/>
          <p:nvPr/>
        </p:nvSpPr>
        <p:spPr>
          <a:xfrm>
            <a:off x="548640" y="4572000"/>
            <a:ext cx="11109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48640" y="4572000"/>
            <a:ext cx="1110996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37" name="Shape 33"/>
          <p:cNvSpPr/>
          <p:nvPr/>
        </p:nvSpPr>
        <p:spPr>
          <a:xfrm>
            <a:off x="768096" y="477316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4873752"/>
            <a:ext cx="256032" cy="25603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325880" y="47548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 (deterministic) assembles report.md / .html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822960" y="5321808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Concatenates sections from state tables; embeds each agent's LLM output in its section; renders Markdown → HTML — no LLM call anywhere in the writer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prompt pieces (per LLM node)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538728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3538728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System prompt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29900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+ hard scientific-caution rules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'DETECTED SEQUENCE SIGNALS', not confirmed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&lt;10 reads = weak; phages separate; High/Critical → recommend RT-qPCR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invented taxa/numbers; 4 sections, &lt;450 words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325112" y="1417320"/>
            <a:ext cx="3538728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25112" y="1417320"/>
            <a:ext cx="3538728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4544568" y="16184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02352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User prompt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99432" y="2167128"/>
            <a:ext cx="29900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run's structured summaries as JSON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run/samples/sites/dates, tools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overall_risk, counts, top_risk_taxa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Prefixed 'Use only this data.'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8101584" y="1417320"/>
            <a:ext cx="3538728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01584" y="1417320"/>
            <a:ext cx="3538728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23" name="Shape 19"/>
          <p:cNvSpPr/>
          <p:nvPr/>
        </p:nvSpPr>
        <p:spPr>
          <a:xfrm>
            <a:off x="8321040" y="161848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21624" y="171907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78824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Cached prefix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375904" y="2167128"/>
            <a:ext cx="29900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SHARED_REFERENCE: curated pathogen background + rules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Per-taxon pathogen snippets appended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Reused across agents → prefix-cache hits, lower cost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640080"/>
            <a:ext cx="45720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2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3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AI AGENTS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Triggers, data &amp; inference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gate · trigger table · report mapping · one slide per agent (real Genome_72)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GATE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 agent fires — and how we prove 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5321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6420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6479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45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trigger gate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212848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llm.enabled  AND  llm_available()  AND  &lt;this agent has real input&gt;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&amp; additive — any miss → clean deterministic fallback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cloud key ever required for Phases 1–3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63040"/>
            <a:ext cx="54864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6304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6420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6479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459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fired: the mode marker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212848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agent stamps a mode in its summary (llm / llm+ncbi)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scripts/check_agents.py reads state and reports the count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6/6 on the real Genome_72 run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48640" y="3977640"/>
            <a:ext cx="111099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977640"/>
            <a:ext cx="1110996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23" name="Shape 19"/>
          <p:cNvSpPr/>
          <p:nvPr/>
        </p:nvSpPr>
        <p:spPr>
          <a:xfrm>
            <a:off x="768096" y="417880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4279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4160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in the graph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2960" y="4727448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· taxonomy · abundance · novel_virus · risk fire PRE-review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narrative fires AFTER human-review approval (then report_writer runs)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qc's LLM fires in the parser once real FastQC data is downloaded (async on the cluster)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condition &amp; marker per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CONDITION (the trigger)</a:t>
            </a:r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MARKER</a:t>
            </a:r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14173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CONDITION (the trigger)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14173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MARKER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09760" y="14173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783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17830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FastQC metrics (note not synthetic)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17830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qc_summary.llm_assessment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09760" y="178308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parse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50008"/>
            <a:ext cx="11091672" cy="566928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50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taxonomy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23500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candidates (GOTTCHA2 hits)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3500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taxonomy_summary.mode=llm+ncbi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509760" y="235000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916936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169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abundance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29169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RPM trends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29169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trend_summary.mode=llm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509760" y="291693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483864"/>
            <a:ext cx="11091672" cy="566928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4838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novel_virus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48386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candidates (CheckV contigs)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34838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novel_candidate_summary.mode=llm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509760" y="348386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050792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0507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0507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per-taxon evidence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40507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risk_summary.mode=llm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509760" y="405079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617720"/>
            <a:ext cx="11091672" cy="566928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6177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narrative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468880" y="46177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+ available (state always present)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66560" y="46177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llm_narrative.status=ok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509760" y="461772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post-approval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MAPPING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agent feeds into report.md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FIELD (material)</a:t>
            </a:r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report.md SECTION</a:t>
            </a:r>
            <a:endParaRPr lang="en-US" sz="1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FIELD (material)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0" y="141732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report.md SECTION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83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78308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qc_summary.llm_assessment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QC → AI QC note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350008"/>
            <a:ext cx="11091672" cy="566928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50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taxonomy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35000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table [LLM] labels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0" y="2350008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Detection &amp; Taxonomy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916936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169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abundance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291693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trend_summary.llm_interpretation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2916936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Abundance → AI trend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483864"/>
            <a:ext cx="11091672" cy="566928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838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novel_virus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48386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novel_candidate_summary.candidates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3483864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Novel Virus Candidates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50792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507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40507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risk_summary.top_risks[].reasons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405079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Risk table [LLM] reasons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617720"/>
            <a:ext cx="11091672" cy="566928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6177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narrative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46177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llm_narrative.text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75120" y="4617720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Interpretation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sections (project / sample / host removal / human review / reproducibility) are deterministic — straight from the state tables.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· QC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qc — data-adequacy assessment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5636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Genome_72 run · backend Gemma 4 E2B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5532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86000"/>
            <a:ext cx="553212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48716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(input)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303580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FastQC per-sample metrics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total_reads = 3,326,783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mean_quality = 34.9, read length 150 bp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qc_status = pass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172200" y="22860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2286000"/>
            <a:ext cx="548640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0" name="Shape 16"/>
          <p:cNvSpPr/>
          <p:nvPr/>
        </p:nvSpPr>
        <p:spPr>
          <a:xfrm>
            <a:off x="6391656" y="248716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25877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2468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(result)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46520" y="303580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Judged ADEQUATE for sensitive viral detection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3.3M reads → high sensitivity for low-abundance viruses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Q34.9 → low noise; no concerns flagged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4754880"/>
            <a:ext cx="91440" cy="13716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48646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— an ordering fix this session: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runs before the cluster jobs, so its LLM would only see synthetic QC. Fixed: the QC assessment now runs in the parser once REAL FastQC metrics are downloaded — so it fires on real data.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· TAXONOMY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— classify detected taxa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5636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Genome_72 run · backend Gemma 4 E2B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5532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86000"/>
            <a:ext cx="553212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48716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(input)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303580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candidate viral taxa from GOTTCHA2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(name, taxid, reads, confidence)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verified NCBI Taxonomy lineage by taxid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172200" y="22860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2286000"/>
            <a:ext cx="548640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0" name="Shape 16"/>
          <p:cNvSpPr/>
          <p:nvPr/>
        </p:nvSpPr>
        <p:spPr>
          <a:xfrm>
            <a:off x="6391656" y="248716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25877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2468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(result)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46520" y="303580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= llm+ncbi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taxa → 3 phage / 4 pathogen-like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control / 11 flagged false-positive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may only ADD caution, never override labels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4754880"/>
            <a:ext cx="91440" cy="13716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48646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memory-only: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grounded in verified NCBI Taxonomy (Division: Phages = authoritative phage) plus curated references — the LLM interprets, the lineage is the ground truth.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· ABUNDANCE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abundance — trend interpretation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5636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Genome_72 run · backend Gemma 4 E2B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5532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86000"/>
            <a:ext cx="553212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48716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(input)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303580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RPM abundance/trend table for 18 taxa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by mean RPM: Human mastadenovirus F, Obolenskvirus AP22, Phikzvirus phiKZ, PMMoV, SARS-related coronavirus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trend = stable (single time point)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172200" y="22860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2286000"/>
            <a:ext cx="548640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0" name="Shape 16"/>
          <p:cNvSpPr/>
          <p:nvPr/>
        </p:nvSpPr>
        <p:spPr>
          <a:xfrm>
            <a:off x="6391656" y="248716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25877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2468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(result)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46520" y="303580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'Based on single-sample data, no temporal trend can be established'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stability from one point is uninformative (0.0% change)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infer changes in transmission or case counts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4754880"/>
            <a:ext cx="91440" cy="13716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48646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all 'stable':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time point → first == last time point → 0% change → every taxon defaults to 'stable'. It means 'trend undeterminable', not genuinely flat. Real trends need ≥2 collection dates.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· NOVEL_VIRUS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novel_virus — novelty assessment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5636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Genome_72 run · backend Gemma 4 E2B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5532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86000"/>
            <a:ext cx="553212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48716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(input)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303580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29 CheckV-quality assembled contigs (High/Medium/Complete or ≥50% complete)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cross-checked against RVDB by DIAMOND blastx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known-virus hits all &lt; 64% identity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172200" y="22860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228600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0" name="Shape 16"/>
          <p:cNvSpPr/>
          <p:nvPr/>
        </p:nvSpPr>
        <p:spPr>
          <a:xfrm>
            <a:off x="6391656" y="248716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25877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2468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(result)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46520" y="303580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= llm; 29 suspected-novel; 0 excluded as known (≥90%)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e.g. NVC_002: 100% complete, 39% identity → novel lineage / highly divergent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notes weak (zero) read support → possible assembly artefact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4754880"/>
            <a:ext cx="91440" cy="137160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48646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is now evidence-based: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CheckV completeness alone does NOT mean novel. A DIAMOND-vs-RVDB homology check labels contigs ≥90% identity as known; only no/weak-hit contigs are 'suspected novel' — here all 29 are &lt;64% identity, genuinely divergent.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· RISK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— per-taxon epidemiological risk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5636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Genome_72 run · backend Gemma 4 E2B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5532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86000"/>
            <a:ext cx="553212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48716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(input)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303580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cleaned taxonomy (labels/flags)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abundance trend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configured high-risk pathogen list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NCBI lineage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172200" y="22860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2286000"/>
            <a:ext cx="548640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0" name="Shape 16"/>
          <p:cNvSpPr/>
          <p:nvPr/>
        </p:nvSpPr>
        <p:spPr>
          <a:xfrm>
            <a:off x="6391656" y="248716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25877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2468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(result)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46520" y="303580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= llm; overall = High (Low 13 / Med 31 / High 2)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SARS-related coronavirus (37 reads) → High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Norwalk virus (24 reads) → High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[LLM] reasoning appended per taxon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4754880"/>
            <a:ext cx="91440" cy="13716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48646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safety rails: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may only raise caution — phages/false-positives pinned Low, configured high-risk pathogens floored at High; PMMoV/crAssphage treated as normalization controls, not threats.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· NARRATIVE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— surveillance narrative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5636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Genome_72 run · backend Gemma 4 E2B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5532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86000"/>
            <a:ext cx="5532120" cy="82296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487168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(input)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303580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whole run's structured summaries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(risk, taxonomy, abundance, novel, sample metadata)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rendered to JSON — not the raw files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172200" y="22860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228600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0" name="Shape 16"/>
          <p:cNvSpPr/>
          <p:nvPr/>
        </p:nvSpPr>
        <p:spPr>
          <a:xfrm>
            <a:off x="6391656" y="248716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25877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2468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(result)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46520" y="303580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gemma-4-E2B-it, status ok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cautious Markdown: 'detected sequence signals … SARS-related coronavirus and Norwalk virus … warranting …'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 summary / Risk / Actions / Caveats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4754880"/>
            <a:ext cx="91440" cy="137160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48646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last, after approval: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fires only after human-review approval, then report_writer embeds it as the report's ## AI-Assisted Interpretation section. It's the 6th and final agent.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640080"/>
            <a:ext cx="45720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2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3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→ local Gemma 4 E2B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 · three migration fixes · verified · quality comparison · tiered policy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switch, zero agent-logic changes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3485286" cy="6035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08760"/>
            <a:ext cx="33938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 SDK)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claude-opus-4-8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08246" y="150876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6262" y="1508760"/>
            <a:ext cx="2831795" cy="60350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1982" y="1508760"/>
            <a:ext cx="27403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LLM_BACKEND switch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8058" y="150876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96074" y="1508760"/>
            <a:ext cx="3485286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6" name="Text 14"/>
          <p:cNvSpPr/>
          <p:nvPr/>
        </p:nvSpPr>
        <p:spPr>
          <a:xfrm>
            <a:off x="7441794" y="1508760"/>
            <a:ext cx="33938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Gemma 4 E2B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 (free)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55321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33172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" y="25328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633472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small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" y="3081528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calls were already centralized in one module (llm/client.py)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 add a backend branch there behind LLM_BACKEND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6 agents keep the same generate()/generate_json() interface — zero logic change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6172200" y="2331720"/>
            <a:ext cx="5486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72200" y="233172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5" name="Shape 22"/>
          <p:cNvSpPr/>
          <p:nvPr/>
        </p:nvSpPr>
        <p:spPr>
          <a:xfrm>
            <a:off x="6391656" y="25328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2633472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49440" y="25146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&amp; reversible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446520" y="308152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'gemma' (local, free, private)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'claude' for external/high-risk reports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Zero-code switch; fully reversible</a:t>
            </a:r>
            <a:endParaRPr lang="en-US" sz="1080" dirty="0"/>
          </a:p>
        </p:txBody>
      </p:sp>
      <p:sp>
        <p:nvSpPr>
          <p:cNvPr id="29" name="Shape 25"/>
          <p:cNvSpPr/>
          <p:nvPr/>
        </p:nvSpPr>
        <p:spPr>
          <a:xfrm>
            <a:off x="548640" y="4572000"/>
            <a:ext cx="11109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48640" y="4572000"/>
            <a:ext cx="11109960" cy="8229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1" name="Shape 27"/>
          <p:cNvSpPr/>
          <p:nvPr/>
        </p:nvSpPr>
        <p:spPr>
          <a:xfrm>
            <a:off x="768096" y="477316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4873752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25880" y="47548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22960" y="5321808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Local, key-free default backend; the deterministic pipeline and all six agents run unchanged — the only change is where inference happens</a:t>
            </a:r>
            <a:endParaRPr lang="en-US" sz="10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Issues found &amp; fixed during migration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1091672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91440" cy="9326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655064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" y="175564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1545336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Reasoning-model token floor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46320" y="1545336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spends tokens on hidden reasoning; too few → empty content. Enforce a 2048 floor.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468880"/>
            <a:ext cx="11091672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468880"/>
            <a:ext cx="91440" cy="932688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" y="2706624"/>
            <a:ext cx="457200" cy="457200"/>
          </a:xfrm>
          <a:prstGeom prst="ellipse">
            <a:avLst/>
          </a:prstGeom>
          <a:solidFill>
            <a:srgbClr val="13355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7824" y="280720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2596896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Cache-breakpoint folding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846320" y="2596896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has no cache_control → fold the shared reference into system; server prefix-caches it.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3520440"/>
            <a:ext cx="11091672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520440"/>
            <a:ext cx="91440" cy="93268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3" name="Shape 19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7824" y="3858768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3648456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Model-attribution fix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4846320" y="3648456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active_model() makes reports cite the real model (gemma-4-E2B-it), not the configured claude.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48640" y="4709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3 more this session for the full HPC run: FastQC output path, checkv_contigs state channel, novel_virus LLM token cap — all fixed, tested, and pushed.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vs Claude — same real data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1417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0" y="1417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7680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83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verdict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350008"/>
            <a:ext cx="7680960" cy="566928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500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detections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3500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 / Norwalk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3500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 / Norwalk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916936"/>
            <a:ext cx="7680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1693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29169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bar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9169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bar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483864"/>
            <a:ext cx="7680960" cy="566928"/>
          </a:xfrm>
          <a:prstGeom prst="rect">
            <a:avLst/>
          </a:prstGeom>
          <a:solidFill>
            <a:srgbClr val="E9F0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838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length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34838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1119 words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34838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1218 words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50792"/>
            <a:ext cx="7680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5079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66160" y="40507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gemma-4-E2B-it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40507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claude-opus-4-8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12480" y="1417320"/>
            <a:ext cx="3246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0" y="1417320"/>
            <a:ext cx="3246120" cy="8229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5" name="Shape 33"/>
          <p:cNvSpPr/>
          <p:nvPr/>
        </p:nvSpPr>
        <p:spPr>
          <a:xfrm>
            <a:off x="8631936" y="161848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719072"/>
            <a:ext cx="256032" cy="25603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18972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verdict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686800" y="2167128"/>
            <a:ext cx="2697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return High; both trigger human review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cautious &amp; confirmation-first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gap is quality, not correctness</a:t>
            </a:r>
            <a:endParaRPr lang="en-US" sz="10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model stands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667512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667512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stronger on 4 points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6126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grounding — cites real context (single sample, site, date, tool)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Single-time-point honesty — flags 'stable' as uninformative from one point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Methodological caveats — subtype from short reads; single-classifier coverage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 precision — amplicon/targeted-capture; parks Medium as routine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406640" y="1417320"/>
            <a:ext cx="4233672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06640" y="1417320"/>
            <a:ext cx="4233672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Shape 14"/>
          <p:cNvSpPr/>
          <p:nvPr/>
        </p:nvSpPr>
        <p:spPr>
          <a:xfrm>
            <a:off x="7626096" y="16184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26680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183880" y="16002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— meets the bar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680960" y="2167128"/>
            <a:ext cx="36850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verdict — identical High detections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Cautious language — signals not infections; phages separate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structure — tiers + prioritised actions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Routine · local · free · fully adequate</a:t>
            </a:r>
            <a:endParaRPr lang="en-US" sz="10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Tiered use — zero-code switch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5321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5448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75564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85623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Gemma (local)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304288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LLM_BACKEND=gemma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Routine / batch / standard surveillance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Fast, free, local &amp; private, no network dependency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Reliable verdict, scientifically cautious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5486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55448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75564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85623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737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Claude for key cases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304288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LLM_BACKEND=claude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reports, high-risk events, formal release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rigorous epi wording &amp; confirmatory advice matter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Stronger nuance &amp; data grounding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48640" y="5074920"/>
            <a:ext cx="11091672" cy="868680"/>
          </a:xfrm>
          <a:prstGeom prst="rect">
            <a:avLst/>
          </a:prstGeom>
          <a:solidFill>
            <a:srgbClr val="0B1E39"/>
          </a:solidFill>
          <a:ln/>
        </p:spPr>
      </p:sp>
      <p:sp>
        <p:nvSpPr>
          <p:cNvPr id="22" name="Shape 18"/>
          <p:cNvSpPr/>
          <p:nvPr/>
        </p:nvSpPr>
        <p:spPr>
          <a:xfrm>
            <a:off x="548640" y="5074920"/>
            <a:ext cx="91440" cy="86868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verified: </a:t>
            </a:r>
            <a:pPr indent="0" marL="0">
              <a:buNone/>
            </a:pPr>
            <a:r>
              <a:rPr lang="en-US" sz="12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125+ tests pass; end-to-end run under gemma completes with 0 errors; both backends switch correctly.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640080"/>
            <a:ext cx="45720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22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3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&amp; DEPLOYMENT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Sapelo2 execution · production plan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 · 5 fetched files · 3-layer architecture · budget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RUN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run on UGA Sapelo2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runs LOCALLY; it reaches the cluster only for the heavy bioinformatics step.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648206" cy="60350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28800"/>
            <a:ext cx="15567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remote-check (Duo)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8286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16302" y="1828800"/>
            <a:ext cx="1648206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4" name="Text 12"/>
          <p:cNvSpPr/>
          <p:nvPr/>
        </p:nvSpPr>
        <p:spPr>
          <a:xfrm>
            <a:off x="2462022" y="1828800"/>
            <a:ext cx="15567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--execute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poll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64508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92524" y="1828800"/>
            <a:ext cx="1295019" cy="6035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7" name="Text 15"/>
          <p:cNvSpPr/>
          <p:nvPr/>
        </p:nvSpPr>
        <p:spPr>
          <a:xfrm>
            <a:off x="4238244" y="1828800"/>
            <a:ext cx="12035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results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7543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15559" y="1828800"/>
            <a:ext cx="1412748" cy="6035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0" name="Text 18"/>
          <p:cNvSpPr/>
          <p:nvPr/>
        </p:nvSpPr>
        <p:spPr>
          <a:xfrm>
            <a:off x="5661279" y="1828800"/>
            <a:ext cx="13213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agents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28307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56323" y="1828800"/>
            <a:ext cx="1530477" cy="60350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23" name="Text 21"/>
          <p:cNvSpPr/>
          <p:nvPr/>
        </p:nvSpPr>
        <p:spPr>
          <a:xfrm>
            <a:off x="7202043" y="1828800"/>
            <a:ext cx="143903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pause: human 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1828800"/>
            <a:ext cx="182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14816" y="1828800"/>
            <a:ext cx="1883664" cy="603504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6" name="Text 24"/>
          <p:cNvSpPr/>
          <p:nvPr/>
        </p:nvSpPr>
        <p:spPr>
          <a:xfrm>
            <a:off x="8860536" y="1828800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--approve → report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743200"/>
            <a:ext cx="55321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274320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" y="294436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3044952"/>
            <a:ext cx="256032" cy="25603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2588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side (Sapelo2)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22960" y="3493008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Slurm jobs: FastQC · GOTTCHA2 · MEGAHIT+CheckV · DIAMOND-vs-RVDB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Per-step conda envs via PATH (no conda init)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declared output_files are sent back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6172200" y="2743200"/>
            <a:ext cx="54864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72200" y="274320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5" name="Shape 32"/>
          <p:cNvSpPr/>
          <p:nvPr/>
        </p:nvSpPr>
        <p:spPr>
          <a:xfrm>
            <a:off x="6391656" y="294436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044952"/>
            <a:ext cx="256032" cy="25603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949440" y="29260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side (local)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446520" y="3493008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Submits over SSH (ControlMaster reuses one Duo auth)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rsync -avz --checksum fetches results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Parses → runs taxonomy/abundance/novel/risk/narrative → report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Pauses at review; resumes on approval</a:t>
            </a:r>
            <a:endParaRPr lang="en-US" sz="10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FILES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files fetched (single sample Genome_72)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109167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91440" cy="7315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563624"/>
            <a:ext cx="438912" cy="43891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" y="1655064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4904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Genome_72.fastqc_data.txt</a:t>
            </a:r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16 KB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325880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· FastQC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80560" y="17465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metrics → qc agent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258568"/>
            <a:ext cx="1109167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258568"/>
            <a:ext cx="91440" cy="7315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2404872"/>
            <a:ext cx="438912" cy="43891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7824" y="2496312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25880" y="23317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Genome_72.gottcha2.tsv</a:t>
            </a:r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19 KB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325880" y="2642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 · GOTTCHA2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480560" y="25877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hits → main chain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3099816"/>
            <a:ext cx="1109167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8640" y="3099816"/>
            <a:ext cx="91440" cy="7315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5" name="Shape 21"/>
          <p:cNvSpPr/>
          <p:nvPr/>
        </p:nvSpPr>
        <p:spPr>
          <a:xfrm>
            <a:off x="777240" y="3246120"/>
            <a:ext cx="438912" cy="438912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7824" y="3337560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25880" y="31729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Genome_72.gottcha2.lineage.tsv</a:t>
            </a:r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 KB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325880" y="3483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 · GOTTCHA2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480560" y="34290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Viruses superkingdom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48640" y="3941064"/>
            <a:ext cx="1109167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48640" y="3941064"/>
            <a:ext cx="91440" cy="7315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2" name="Shape 27"/>
          <p:cNvSpPr/>
          <p:nvPr/>
        </p:nvSpPr>
        <p:spPr>
          <a:xfrm>
            <a:off x="777240" y="4087368"/>
            <a:ext cx="438912" cy="438912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7824" y="4178808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325880" y="40142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Genome_72.checkv_quality_summary.tsv</a:t>
            </a:r>
            <a:pPr indent="0" marL="0">
              <a:buNone/>
            </a:pPr>
            <a:r>
              <a:rPr lang="en-US" sz="10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5.7 MB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1325880" y="4325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novel_virus · CheckV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480560" y="42702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per-contig quality → candidates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48640" y="4782312"/>
            <a:ext cx="1109167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48640" y="4782312"/>
            <a:ext cx="91440" cy="7315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9" name="Shape 33"/>
          <p:cNvSpPr/>
          <p:nvPr/>
        </p:nvSpPr>
        <p:spPr>
          <a:xfrm>
            <a:off x="777240" y="4928616"/>
            <a:ext cx="438912" cy="438912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7824" y="5020056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325880" y="48554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Genome_72.contig_homology.tsv</a:t>
            </a:r>
            <a:pPr indent="0" marL="0">
              <a:buNone/>
            </a:pPr>
            <a:r>
              <a:rPr lang="en-US" sz="10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311 KB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1325880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novel_virus · DIAMOND vs RVDB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480560" y="511149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known-virus hit → novelty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— 8 tables/*.csv + report.md — derives from these 5 files + manifest metadata + NCBI lineage + config.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production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53872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3538728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1848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1907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web layer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167128"/>
            <a:ext cx="299008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/ HTTPS / login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&amp; sample metadata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instructions &amp; task status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Sapelo2 &amp; RunPod APIs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reports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EC2 t4g.large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325112" y="1417320"/>
            <a:ext cx="353872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25112" y="1417320"/>
            <a:ext cx="3538728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4544568" y="161848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171907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02352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 Sapelo2 / Globus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99432" y="2167128"/>
            <a:ext cx="299008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TB-scale sequencing data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/project or /scratch analysis area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Slurm bioinformatics pipelines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Sends result files to the web layer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/project · /scratch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8101584" y="1417320"/>
            <a:ext cx="3538728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01584" y="1417320"/>
            <a:ext cx="3538728" cy="8229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3" name="Shape 19"/>
          <p:cNvSpPr/>
          <p:nvPr/>
        </p:nvSpPr>
        <p:spPr>
          <a:xfrm>
            <a:off x="8321040" y="161848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21624" y="171907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78824" y="16002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RunPod GPU inference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375904" y="2167128"/>
            <a:ext cx="299008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open-weight LLMs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reasoning workflows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synthesis &amp; interpretation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A100 PCIe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responsibility boundaries: the web layer never runs analysis; the cluster never serves the site; the GPU layer only runs inference.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128016" cy="50292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— GPU choice drives the bill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Project 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5321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66420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6479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1645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RunPod, not AWS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212848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AWS: GPUs only in 8× A100 batches at $27.45/hr = $3.43/hr per GPU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RunPod A100: $1.39/hr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RunPod chosen for GPU inference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72200" y="146304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46304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4"/>
          <p:cNvSpPr/>
          <p:nvPr/>
        </p:nvSpPr>
        <p:spPr>
          <a:xfrm>
            <a:off x="6391656" y="166420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6479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459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Weekday-online caveat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221284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Weekday GPU-online config is cheapest</a:t>
            </a: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endParaRPr lang="en-US" sz="108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But cannot guarantee GPU availability at morning boot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48640" y="3886200"/>
            <a:ext cx="5394960" cy="18745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2" name="Shape 18"/>
          <p:cNvSpPr/>
          <p:nvPr/>
        </p:nvSpPr>
        <p:spPr>
          <a:xfrm>
            <a:off x="548640" y="3886200"/>
            <a:ext cx="91440" cy="18745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4160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~$5,551 / yr</a:t>
            </a:r>
            <a:endParaRPr lang="en-US" sz="3400" dirty="0"/>
          </a:p>
        </p:txBody>
      </p:sp>
      <p:sp>
        <p:nvSpPr>
          <p:cNvPr id="24" name="Text 20"/>
          <p:cNvSpPr/>
          <p:nvPr/>
        </p:nvSpPr>
        <p:spPr>
          <a:xfrm>
            <a:off x="86868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GPU online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153912" y="3886200"/>
            <a:ext cx="5394960" cy="18745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6" name="Shape 22"/>
          <p:cNvSpPr/>
          <p:nvPr/>
        </p:nvSpPr>
        <p:spPr>
          <a:xfrm>
            <a:off x="6153912" y="3886200"/>
            <a:ext cx="91440" cy="18745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7" name="Text 23"/>
          <p:cNvSpPr/>
          <p:nvPr/>
        </p:nvSpPr>
        <p:spPr>
          <a:xfrm>
            <a:off x="6473952" y="4160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~$13,036 / yr</a:t>
            </a:r>
            <a:endParaRPr lang="en-US" sz="3400" dirty="0"/>
          </a:p>
        </p:txBody>
      </p:sp>
      <p:sp>
        <p:nvSpPr>
          <p:cNvPr id="28" name="Text 24"/>
          <p:cNvSpPr/>
          <p:nvPr/>
        </p:nvSpPr>
        <p:spPr>
          <a:xfrm>
            <a:off x="6473952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A100 service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multi-agent surveillance system, proven on real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74920" cy="132588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074920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 runs key-free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245973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1–3 need no LLM; the AI layer is additive &amp; degrades gracefully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074920" cy="132588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874520"/>
            <a:ext cx="5074920" cy="9144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agents on a real Sapelo2 run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29400" y="245973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Genome_72: all six fired; Gemma report; RVDB-verified novelty; tests 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5074920" cy="132588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429000"/>
            <a:ext cx="5074920" cy="9144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&amp; cost-aware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40142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local Gemma (free/private); tiered Claude; RunPod GPU far cheaper than AWS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3429000"/>
            <a:ext cx="5074920" cy="132588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3429000"/>
            <a:ext cx="5074920" cy="9144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&amp; reproducible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'Detected signal' not 'confirmed'; declared state; human review; full docs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10561320" cy="9144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5349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MetaMAVS: </a:t>
            </a:r>
            <a:pPr indent="0" marL="0">
              <a:buNone/>
            </a:pPr>
            <a:r>
              <a:rPr lang="en-US" sz="1400" dirty="0">
                <a:solidFill>
                  <a:srgbClr val="EA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cautious, reproducible, LangGraph multi-agent pipeline — from raw metagenome to an AI-interpreted surveillance report.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— Detailed Summary</dc:title>
  <dc:subject>PptxGenJS Presentation</dc:subject>
  <dc:creator>MetaMAVS</dc:creator>
  <cp:lastModifiedBy>MetaMAVS</cp:lastModifiedBy>
  <cp:revision>1</cp:revision>
  <dcterms:created xsi:type="dcterms:W3CDTF">2026-07-11T23:56:17Z</dcterms:created>
  <dcterms:modified xsi:type="dcterms:W3CDTF">2026-07-11T23:56:17Z</dcterms:modified>
</cp:coreProperties>
</file>