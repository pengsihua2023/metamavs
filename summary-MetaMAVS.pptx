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E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097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METAMAVS · DETAILED PROJECT SUMMARY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600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Metagenomic Multi-Agent Virus Surveillance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26974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LangGraph-based, scientifically-cautious multi-agent system for viral surveillance from wastewater, environmental &amp; clinical metagenomes.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3794760"/>
            <a:ext cx="5120640" cy="960120"/>
          </a:xfrm>
          <a:prstGeom prst="rect">
            <a:avLst/>
          </a:prstGeom>
          <a:solidFill>
            <a:srgbClr val="12294A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3794760"/>
            <a:ext cx="82296" cy="960120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39319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097280" y="441655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nodes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309360" y="3794760"/>
            <a:ext cx="5120640" cy="960120"/>
          </a:xfrm>
          <a:prstGeom prst="rect">
            <a:avLst/>
          </a:prstGeom>
          <a:solidFill>
            <a:srgbClr val="12294A"/>
          </a:solidFill>
          <a:ln/>
        </p:spPr>
      </p:sp>
      <p:sp>
        <p:nvSpPr>
          <p:cNvPr id="12" name="Shape 10"/>
          <p:cNvSpPr/>
          <p:nvPr/>
        </p:nvSpPr>
        <p:spPr>
          <a:xfrm>
            <a:off x="6309360" y="3794760"/>
            <a:ext cx="82296" cy="960120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39319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583680" y="441655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(all fired on real data)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22960" y="4937760"/>
            <a:ext cx="5120640" cy="960120"/>
          </a:xfrm>
          <a:prstGeom prst="rect">
            <a:avLst/>
          </a:prstGeom>
          <a:solidFill>
            <a:srgbClr val="12294A"/>
          </a:solidFill>
          <a:ln/>
        </p:spPr>
      </p:sp>
      <p:sp>
        <p:nvSpPr>
          <p:cNvPr id="16" name="Shape 14"/>
          <p:cNvSpPr/>
          <p:nvPr/>
        </p:nvSpPr>
        <p:spPr>
          <a:xfrm>
            <a:off x="822960" y="4937760"/>
            <a:ext cx="82296" cy="960120"/>
          </a:xfrm>
          <a:prstGeom prst="rect">
            <a:avLst/>
          </a:prstGeom>
          <a:solidFill>
            <a:srgbClr val="2FA36B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" y="50749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1097280" y="555955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layers (AWS·Sapelo2·GPU)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09360" y="4937760"/>
            <a:ext cx="5120640" cy="960120"/>
          </a:xfrm>
          <a:prstGeom prst="rect">
            <a:avLst/>
          </a:prstGeom>
          <a:solidFill>
            <a:srgbClr val="12294A"/>
          </a:solidFill>
          <a:ln/>
        </p:spPr>
      </p:sp>
      <p:sp>
        <p:nvSpPr>
          <p:cNvPr id="20" name="Shape 18"/>
          <p:cNvSpPr/>
          <p:nvPr/>
        </p:nvSpPr>
        <p:spPr>
          <a:xfrm>
            <a:off x="6309360" y="4937760"/>
            <a:ext cx="82296" cy="960120"/>
          </a:xfrm>
          <a:prstGeom prst="rect">
            <a:avLst/>
          </a:prstGeom>
          <a:solidFill>
            <a:srgbClr val="13355F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0" y="50749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Gemma 4 E2B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583680" y="555955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default backend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22960" y="6172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Sihua Peng · University of Georgia · synthesis of 9 project decks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E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3" name="Text 1"/>
          <p:cNvSpPr/>
          <p:nvPr/>
        </p:nvSpPr>
        <p:spPr>
          <a:xfrm>
            <a:off x="7589520" y="640080"/>
            <a:ext cx="45720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3000" b="1" dirty="0">
                <a:solidFill>
                  <a:srgbClr val="1229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3000" dirty="0"/>
          </a:p>
        </p:txBody>
      </p:sp>
      <p:sp>
        <p:nvSpPr>
          <p:cNvPr id="4" name="Text 2"/>
          <p:cNvSpPr/>
          <p:nvPr/>
        </p:nvSpPr>
        <p:spPr>
          <a:xfrm>
            <a:off x="914400" y="2514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92608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MetaMAVS, and what it is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914400" y="39776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surveillance challenge · the system · design principles · scientific caution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97280"/>
            <a:ext cx="12191695" cy="27432"/>
          </a:xfrm>
          <a:prstGeom prst="rect">
            <a:avLst/>
          </a:prstGeom>
          <a:solidFill>
            <a:srgbClr val="DCE5E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310896"/>
            <a:ext cx="128016" cy="502920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0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502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MetaMAVS — the surveillance challenge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MetaMAVS — Project Summary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417320"/>
            <a:ext cx="5532120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1417320"/>
            <a:ext cx="5532120" cy="82296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11" name="Shape 9"/>
          <p:cNvSpPr/>
          <p:nvPr/>
        </p:nvSpPr>
        <p:spPr>
          <a:xfrm>
            <a:off x="768096" y="1618488"/>
            <a:ext cx="457200" cy="457200"/>
          </a:xfrm>
          <a:prstGeom prst="ellipse">
            <a:avLst/>
          </a:prstGeom>
          <a:solidFill>
            <a:srgbClr val="E08A2B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719072"/>
            <a:ext cx="256032" cy="25603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325880" y="16002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Complex, noisy data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22960" y="2167128"/>
            <a:ext cx="4983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Wastewater/environmental metagenomes mix host, bacteria, phage and rare viral signals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real signal is a tiny fraction; contamination and low-complexity hits abound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6172200" y="1417320"/>
            <a:ext cx="5486400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172200" y="1417320"/>
            <a:ext cx="5486400" cy="82296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17" name="Shape 14"/>
          <p:cNvSpPr/>
          <p:nvPr/>
        </p:nvSpPr>
        <p:spPr>
          <a:xfrm>
            <a:off x="6391656" y="1618488"/>
            <a:ext cx="457200" cy="457200"/>
          </a:xfrm>
          <a:prstGeom prst="ellipse">
            <a:avLst/>
          </a:prstGeom>
          <a:solidFill>
            <a:srgbClr val="E08A2B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92240" y="1719072"/>
            <a:ext cx="256032" cy="25603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949440" y="160020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fragile manual steps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6446520" y="2167128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QC → host removal → detection → taxonomy → abundance → novelty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Easy to break, hard to reproduce, no consistent record</a:t>
            </a:r>
            <a:endParaRPr lang="en-US" sz="1080" dirty="0"/>
          </a:p>
        </p:txBody>
      </p:sp>
      <p:sp>
        <p:nvSpPr>
          <p:cNvPr id="21" name="Shape 17"/>
          <p:cNvSpPr/>
          <p:nvPr/>
        </p:nvSpPr>
        <p:spPr>
          <a:xfrm>
            <a:off x="548640" y="3931920"/>
            <a:ext cx="5532120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48640" y="3931920"/>
            <a:ext cx="5532120" cy="82296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23" name="Shape 19"/>
          <p:cNvSpPr/>
          <p:nvPr/>
        </p:nvSpPr>
        <p:spPr>
          <a:xfrm>
            <a:off x="768096" y="4133088"/>
            <a:ext cx="457200" cy="457200"/>
          </a:xfrm>
          <a:prstGeom prst="ellipse">
            <a:avLst/>
          </a:prstGeom>
          <a:solidFill>
            <a:srgbClr val="E08A2B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68680" y="4233672"/>
            <a:ext cx="256032" cy="25603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325880" y="41148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of over-claiming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822960" y="4681728"/>
            <a:ext cx="4983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Weak metagenomic hits mistaken for confirmed pathogens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Without careful flagging, a few reads read as an 'outbreak'</a:t>
            </a:r>
            <a:endParaRPr lang="en-US" sz="1080" dirty="0"/>
          </a:p>
        </p:txBody>
      </p:sp>
      <p:sp>
        <p:nvSpPr>
          <p:cNvPr id="27" name="Shape 22"/>
          <p:cNvSpPr/>
          <p:nvPr/>
        </p:nvSpPr>
        <p:spPr>
          <a:xfrm>
            <a:off x="6172200" y="3931920"/>
            <a:ext cx="5486400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6172200" y="3931920"/>
            <a:ext cx="5486400" cy="82296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29" name="Shape 24"/>
          <p:cNvSpPr/>
          <p:nvPr/>
        </p:nvSpPr>
        <p:spPr>
          <a:xfrm>
            <a:off x="6391656" y="4133088"/>
            <a:ext cx="457200" cy="457200"/>
          </a:xfrm>
          <a:prstGeom prst="ellipse">
            <a:avLst/>
          </a:prstGeom>
          <a:solidFill>
            <a:srgbClr val="E08A2B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92240" y="4233672"/>
            <a:ext cx="256032" cy="256032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6949440" y="411480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coordination layer</a:t>
            </a:r>
            <a:endParaRPr lang="en-US" sz="1400" dirty="0"/>
          </a:p>
        </p:txBody>
      </p:sp>
      <p:sp>
        <p:nvSpPr>
          <p:cNvPr id="32" name="Text 26"/>
          <p:cNvSpPr/>
          <p:nvPr/>
        </p:nvSpPr>
        <p:spPr>
          <a:xfrm>
            <a:off x="6446520" y="4681728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Traditional pipelines lack decision logic, human review and error handling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Nothing routes, pauses, or recovers across steps</a:t>
            </a:r>
            <a:endParaRPr lang="en-US" sz="10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97280"/>
            <a:ext cx="12191695" cy="27432"/>
          </a:xfrm>
          <a:prstGeom prst="rect">
            <a:avLst/>
          </a:prstGeom>
          <a:solidFill>
            <a:srgbClr val="DCE5E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310896"/>
            <a:ext cx="128016" cy="502920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502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MetaMAVS?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MetaMAVS — Project Summary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13716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research-grade system that processes metagenomic data, detects known &amp; potential viral signals, classifies them, tracks abundance trends, screens novelty, assesses epidemiological risk, and writes surveillance reports — orchestrated as a LangGraph state machine.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377440"/>
            <a:ext cx="3538728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2377440"/>
            <a:ext cx="3538728" cy="82296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12" name="Shape 10"/>
          <p:cNvSpPr/>
          <p:nvPr/>
        </p:nvSpPr>
        <p:spPr>
          <a:xfrm>
            <a:off x="768096" y="2578608"/>
            <a:ext cx="457200" cy="457200"/>
          </a:xfrm>
          <a:prstGeom prst="ellipse">
            <a:avLst/>
          </a:prstGeom>
          <a:solidFill>
            <a:srgbClr val="0E9AA7"/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2679192"/>
            <a:ext cx="256032" cy="256032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325880" y="2560320"/>
            <a:ext cx="257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Research-grade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22960" y="3127248"/>
            <a:ext cx="2990088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Scientifically cautious: 'detected signal', not 'confirmed infection'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Never overstates weak evidence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Recommends confirmatory testing</a:t>
            </a:r>
            <a:endParaRPr lang="en-US" sz="1080" dirty="0"/>
          </a:p>
        </p:txBody>
      </p:sp>
      <p:sp>
        <p:nvSpPr>
          <p:cNvPr id="16" name="Shape 13"/>
          <p:cNvSpPr/>
          <p:nvPr/>
        </p:nvSpPr>
        <p:spPr>
          <a:xfrm>
            <a:off x="4325112" y="2377440"/>
            <a:ext cx="3538728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325112" y="2377440"/>
            <a:ext cx="3538728" cy="82296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18" name="Shape 15"/>
          <p:cNvSpPr/>
          <p:nvPr/>
        </p:nvSpPr>
        <p:spPr>
          <a:xfrm>
            <a:off x="4544568" y="2578608"/>
            <a:ext cx="457200" cy="457200"/>
          </a:xfrm>
          <a:prstGeom prst="ellipse">
            <a:avLst/>
          </a:prstGeom>
          <a:solidFill>
            <a:srgbClr val="E08A2B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45152" y="2679192"/>
            <a:ext cx="256032" cy="256032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5102352" y="2560320"/>
            <a:ext cx="257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4599432" y="3127248"/>
            <a:ext cx="2990088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Not a sequential script — a LangGraph StateGraph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 nodes + conditional routing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Checkpointing &amp; human-in-the-loop</a:t>
            </a:r>
            <a:endParaRPr lang="en-US" sz="1080" dirty="0"/>
          </a:p>
        </p:txBody>
      </p:sp>
      <p:sp>
        <p:nvSpPr>
          <p:cNvPr id="22" name="Shape 18"/>
          <p:cNvSpPr/>
          <p:nvPr/>
        </p:nvSpPr>
        <p:spPr>
          <a:xfrm>
            <a:off x="8101584" y="2377440"/>
            <a:ext cx="3538728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101584" y="2377440"/>
            <a:ext cx="3538728" cy="82296"/>
          </a:xfrm>
          <a:prstGeom prst="rect">
            <a:avLst/>
          </a:prstGeom>
          <a:solidFill>
            <a:srgbClr val="2FA36B"/>
          </a:solidFill>
          <a:ln/>
        </p:spPr>
      </p:sp>
      <p:sp>
        <p:nvSpPr>
          <p:cNvPr id="24" name="Shape 20"/>
          <p:cNvSpPr/>
          <p:nvPr/>
        </p:nvSpPr>
        <p:spPr>
          <a:xfrm>
            <a:off x="8321040" y="2578608"/>
            <a:ext cx="457200" cy="457200"/>
          </a:xfrm>
          <a:prstGeom prst="ellipse">
            <a:avLst/>
          </a:prstGeom>
          <a:solidFill>
            <a:srgbClr val="2FA36B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421624" y="2679192"/>
            <a:ext cx="256032" cy="256032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8878824" y="2560320"/>
            <a:ext cx="257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AI-augmented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8375904" y="3127248"/>
            <a:ext cx="2990088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Deterministic &amp; key-free by default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 nodes optionally become LLM agents when enabled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taxonomy &amp; risk grounded in verified NCBI Taxonomy; others use a curated reference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cloud key ever required to run</a:t>
            </a:r>
            <a:endParaRPr lang="en-US" sz="10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97280"/>
            <a:ext cx="12191695" cy="27432"/>
          </a:xfrm>
          <a:prstGeom prst="rect">
            <a:avLst/>
          </a:prstGeom>
          <a:solidFill>
            <a:srgbClr val="DCE5E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310896"/>
            <a:ext cx="128016" cy="502920"/>
          </a:xfrm>
          <a:prstGeom prst="rect">
            <a:avLst/>
          </a:prstGeom>
          <a:solidFill>
            <a:srgbClr val="13355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33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502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design philosophy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MetaMAVS — Project Summary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417320"/>
            <a:ext cx="5532120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1417320"/>
            <a:ext cx="5532120" cy="82296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11" name="Shape 9"/>
          <p:cNvSpPr/>
          <p:nvPr/>
        </p:nvSpPr>
        <p:spPr>
          <a:xfrm>
            <a:off x="768096" y="1618488"/>
            <a:ext cx="457200" cy="457200"/>
          </a:xfrm>
          <a:prstGeom prst="ellipse">
            <a:avLst/>
          </a:prstGeom>
          <a:solidFill>
            <a:srgbClr val="0E9AA7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719072"/>
            <a:ext cx="256032" cy="25603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325880" y="16002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machine, not a script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22960" y="2167128"/>
            <a:ext cx="4983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Conditional routing, error diversion, human-in-the-loop, checkpointing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Impossible to express cleanly in a flat script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6172200" y="1417320"/>
            <a:ext cx="5486400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172200" y="1417320"/>
            <a:ext cx="5486400" cy="82296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17" name="Shape 14"/>
          <p:cNvSpPr/>
          <p:nvPr/>
        </p:nvSpPr>
        <p:spPr>
          <a:xfrm>
            <a:off x="6391656" y="1618488"/>
            <a:ext cx="457200" cy="457200"/>
          </a:xfrm>
          <a:prstGeom prst="ellipse">
            <a:avLst/>
          </a:prstGeom>
          <a:solidFill>
            <a:srgbClr val="E08A2B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92240" y="1719072"/>
            <a:ext cx="256032" cy="25603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949440" y="160020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state flows through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6446520" y="2167128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Every node returns a partial update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warnings/errors/log use add-reducers — append, never overwrite</a:t>
            </a:r>
            <a:endParaRPr lang="en-US" sz="1080" dirty="0"/>
          </a:p>
        </p:txBody>
      </p:sp>
      <p:sp>
        <p:nvSpPr>
          <p:cNvPr id="21" name="Shape 17"/>
          <p:cNvSpPr/>
          <p:nvPr/>
        </p:nvSpPr>
        <p:spPr>
          <a:xfrm>
            <a:off x="548640" y="3931920"/>
            <a:ext cx="5532120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48640" y="3931920"/>
            <a:ext cx="5532120" cy="82296"/>
          </a:xfrm>
          <a:prstGeom prst="rect">
            <a:avLst/>
          </a:prstGeom>
          <a:solidFill>
            <a:srgbClr val="2FA36B"/>
          </a:solidFill>
          <a:ln/>
        </p:spPr>
      </p:sp>
      <p:sp>
        <p:nvSpPr>
          <p:cNvPr id="23" name="Shape 19"/>
          <p:cNvSpPr/>
          <p:nvPr/>
        </p:nvSpPr>
        <p:spPr>
          <a:xfrm>
            <a:off x="768096" y="4133088"/>
            <a:ext cx="457200" cy="457200"/>
          </a:xfrm>
          <a:prstGeom prst="ellipse">
            <a:avLst/>
          </a:prstGeom>
          <a:solidFill>
            <a:srgbClr val="2FA36B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68680" y="4233672"/>
            <a:ext cx="256032" cy="25603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325880" y="41148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dependency centralized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822960" y="4681728"/>
            <a:ext cx="4983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Only graph.py imports LangGraph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16 nodes stay pure, independently testable functions</a:t>
            </a:r>
            <a:endParaRPr lang="en-US" sz="1080" dirty="0"/>
          </a:p>
        </p:txBody>
      </p:sp>
      <p:sp>
        <p:nvSpPr>
          <p:cNvPr id="27" name="Shape 22"/>
          <p:cNvSpPr/>
          <p:nvPr/>
        </p:nvSpPr>
        <p:spPr>
          <a:xfrm>
            <a:off x="6172200" y="3931920"/>
            <a:ext cx="5486400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6172200" y="3931920"/>
            <a:ext cx="5486400" cy="82296"/>
          </a:xfrm>
          <a:prstGeom prst="rect">
            <a:avLst/>
          </a:prstGeom>
          <a:solidFill>
            <a:srgbClr val="13355F"/>
          </a:solidFill>
          <a:ln/>
        </p:spPr>
      </p:sp>
      <p:sp>
        <p:nvSpPr>
          <p:cNvPr id="29" name="Shape 24"/>
          <p:cNvSpPr/>
          <p:nvPr/>
        </p:nvSpPr>
        <p:spPr>
          <a:xfrm>
            <a:off x="6391656" y="4133088"/>
            <a:ext cx="457200" cy="457200"/>
          </a:xfrm>
          <a:prstGeom prst="ellipse">
            <a:avLst/>
          </a:prstGeom>
          <a:solidFill>
            <a:srgbClr val="13355F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92240" y="4233672"/>
            <a:ext cx="256032" cy="256032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6949440" y="411480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 of concerns</a:t>
            </a:r>
            <a:endParaRPr lang="en-US" sz="1400" dirty="0"/>
          </a:p>
        </p:txBody>
      </p:sp>
      <p:sp>
        <p:nvSpPr>
          <p:cNvPr id="32" name="Text 26"/>
          <p:cNvSpPr/>
          <p:nvPr/>
        </p:nvSpPr>
        <p:spPr>
          <a:xfrm>
            <a:off x="6446520" y="4681728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Orchestration (LangGraph) · nodes (agents)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Utilities · data validation (pydantic) — clearly split</a:t>
            </a:r>
            <a:endParaRPr lang="en-US" sz="10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E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3" name="Text 1"/>
          <p:cNvSpPr/>
          <p:nvPr/>
        </p:nvSpPr>
        <p:spPr>
          <a:xfrm>
            <a:off x="7589520" y="640080"/>
            <a:ext cx="45720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3000" b="1" dirty="0">
                <a:solidFill>
                  <a:srgbClr val="1229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3000" dirty="0"/>
          </a:p>
        </p:txBody>
      </p:sp>
      <p:sp>
        <p:nvSpPr>
          <p:cNvPr id="4" name="Text 2"/>
          <p:cNvSpPr/>
          <p:nvPr/>
        </p:nvSpPr>
        <p:spPr>
          <a:xfrm>
            <a:off x="914400" y="2514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E0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92608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LangGraph workflow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914400" y="39776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nodes · shared state · conditional routing · human review · error handling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97280"/>
            <a:ext cx="12191695" cy="27432"/>
          </a:xfrm>
          <a:prstGeom prst="rect">
            <a:avLst/>
          </a:prstGeom>
          <a:solidFill>
            <a:srgbClr val="DCE5E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310896"/>
            <a:ext cx="128016" cy="502920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502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16-node surveillance pipeline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MetaMAVS — Project Summary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1554480"/>
            <a:ext cx="1405719" cy="603504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554480"/>
            <a:ext cx="131427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045799" y="1554480"/>
            <a:ext cx="182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173815" y="1554480"/>
            <a:ext cx="1405719" cy="603504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13" name="Text 11"/>
          <p:cNvSpPr/>
          <p:nvPr/>
        </p:nvSpPr>
        <p:spPr>
          <a:xfrm>
            <a:off x="2219535" y="1554480"/>
            <a:ext cx="131427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579535" y="1554480"/>
            <a:ext cx="182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707551" y="1554480"/>
            <a:ext cx="1686863" cy="603504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16" name="Text 14"/>
          <p:cNvSpPr/>
          <p:nvPr/>
        </p:nvSpPr>
        <p:spPr>
          <a:xfrm>
            <a:off x="3753271" y="1554480"/>
            <a:ext cx="159542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removal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394414" y="1554480"/>
            <a:ext cx="182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522430" y="1554480"/>
            <a:ext cx="1827435" cy="603504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19" name="Text 17"/>
          <p:cNvSpPr/>
          <p:nvPr/>
        </p:nvSpPr>
        <p:spPr>
          <a:xfrm>
            <a:off x="5568150" y="1554480"/>
            <a:ext cx="17359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detection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349865" y="1554480"/>
            <a:ext cx="182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477881" y="1554480"/>
            <a:ext cx="1546291" cy="603504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22" name="Text 20"/>
          <p:cNvSpPr/>
          <p:nvPr/>
        </p:nvSpPr>
        <p:spPr>
          <a:xfrm>
            <a:off x="7523601" y="1554480"/>
            <a:ext cx="145485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taxonomy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024173" y="1554480"/>
            <a:ext cx="182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152189" y="1554480"/>
            <a:ext cx="1546291" cy="603504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25" name="Text 23"/>
          <p:cNvSpPr/>
          <p:nvPr/>
        </p:nvSpPr>
        <p:spPr>
          <a:xfrm>
            <a:off x="9197909" y="1554480"/>
            <a:ext cx="145485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abundance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0080" y="2331720"/>
            <a:ext cx="1686863" cy="603504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2331720"/>
            <a:ext cx="159542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 virus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326943" y="2331720"/>
            <a:ext cx="182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454959" y="2331720"/>
            <a:ext cx="1405719" cy="603504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30" name="Text 28"/>
          <p:cNvSpPr/>
          <p:nvPr/>
        </p:nvSpPr>
        <p:spPr>
          <a:xfrm>
            <a:off x="2500679" y="2331720"/>
            <a:ext cx="131427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860679" y="2331720"/>
            <a:ext cx="182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988695" y="2331720"/>
            <a:ext cx="1686863" cy="603504"/>
          </a:xfrm>
          <a:prstGeom prst="rect">
            <a:avLst/>
          </a:prstGeom>
          <a:solidFill>
            <a:srgbClr val="13355F"/>
          </a:solidFill>
          <a:ln/>
        </p:spPr>
      </p:sp>
      <p:sp>
        <p:nvSpPr>
          <p:cNvPr id="33" name="Text 31"/>
          <p:cNvSpPr/>
          <p:nvPr/>
        </p:nvSpPr>
        <p:spPr>
          <a:xfrm>
            <a:off x="4034415" y="2331720"/>
            <a:ext cx="159542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675558" y="2331720"/>
            <a:ext cx="182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803574" y="2331720"/>
            <a:ext cx="1827435" cy="603504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36" name="Text 34"/>
          <p:cNvSpPr/>
          <p:nvPr/>
        </p:nvSpPr>
        <p:spPr>
          <a:xfrm>
            <a:off x="5849294" y="2331720"/>
            <a:ext cx="17359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narrative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631009" y="2331720"/>
            <a:ext cx="182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759025" y="2331720"/>
            <a:ext cx="1827435" cy="603504"/>
          </a:xfrm>
          <a:prstGeom prst="rect">
            <a:avLst/>
          </a:prstGeom>
          <a:solidFill>
            <a:srgbClr val="2FA36B"/>
          </a:solidFill>
          <a:ln/>
        </p:spPr>
      </p:sp>
      <p:sp>
        <p:nvSpPr>
          <p:cNvPr id="39" name="Text 37"/>
          <p:cNvSpPr/>
          <p:nvPr/>
        </p:nvSpPr>
        <p:spPr>
          <a:xfrm>
            <a:off x="7804745" y="2331720"/>
            <a:ext cx="17359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writer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586460" y="2331720"/>
            <a:ext cx="182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9714476" y="2331720"/>
            <a:ext cx="984004" cy="603504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42" name="Text 40"/>
          <p:cNvSpPr/>
          <p:nvPr/>
        </p:nvSpPr>
        <p:spPr>
          <a:xfrm>
            <a:off x="9760196" y="2331720"/>
            <a:ext cx="8925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40080" y="31546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errors route to an error_handler that classifies severity and decides continue-or-stop; a conditional review router sends High/Critical or novel-candidate runs to human review.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48640" y="3931920"/>
            <a:ext cx="3657600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548640" y="3931920"/>
            <a:ext cx="3657600" cy="82296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46" name="Shape 44"/>
          <p:cNvSpPr/>
          <p:nvPr/>
        </p:nvSpPr>
        <p:spPr>
          <a:xfrm>
            <a:off x="768096" y="4133088"/>
            <a:ext cx="457200" cy="457200"/>
          </a:xfrm>
          <a:prstGeom prst="ellipse">
            <a:avLst/>
          </a:prstGeom>
          <a:solidFill>
            <a:srgbClr val="0E9AA7"/>
          </a:solidFill>
          <a:ln/>
        </p:spPr>
      </p:sp>
      <p:pic>
        <p:nvPicPr>
          <p:cNvPr id="4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4233672"/>
            <a:ext cx="256032" cy="256032"/>
          </a:xfrm>
          <a:prstGeom prst="rect">
            <a:avLst/>
          </a:prstGeom>
        </p:spPr>
      </p:pic>
      <p:sp>
        <p:nvSpPr>
          <p:cNvPr id="48" name="Text 45"/>
          <p:cNvSpPr/>
          <p:nvPr/>
        </p:nvSpPr>
        <p:spPr>
          <a:xfrm>
            <a:off x="1325880" y="411480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first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822960" y="4681728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Every step generates commands &amp; tables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Dry-run-capable, no external tools needed to test</a:t>
            </a:r>
            <a:endParaRPr lang="en-US" sz="1080" dirty="0"/>
          </a:p>
        </p:txBody>
      </p:sp>
      <p:sp>
        <p:nvSpPr>
          <p:cNvPr id="50" name="Shape 47"/>
          <p:cNvSpPr/>
          <p:nvPr/>
        </p:nvSpPr>
        <p:spPr>
          <a:xfrm>
            <a:off x="4325112" y="3931920"/>
            <a:ext cx="3657600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4325112" y="3931920"/>
            <a:ext cx="3657600" cy="82296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52" name="Shape 49"/>
          <p:cNvSpPr/>
          <p:nvPr/>
        </p:nvSpPr>
        <p:spPr>
          <a:xfrm>
            <a:off x="4544568" y="4133088"/>
            <a:ext cx="457200" cy="457200"/>
          </a:xfrm>
          <a:prstGeom prst="ellipse">
            <a:avLst/>
          </a:prstGeom>
          <a:solidFill>
            <a:srgbClr val="E08A2B"/>
          </a:solidFill>
          <a:ln/>
        </p:spPr>
      </p:sp>
      <p:pic>
        <p:nvPicPr>
          <p:cNvPr id="5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45152" y="4233672"/>
            <a:ext cx="256032" cy="256032"/>
          </a:xfrm>
          <a:prstGeom prst="rect">
            <a:avLst/>
          </a:prstGeom>
        </p:spPr>
      </p:pic>
      <p:sp>
        <p:nvSpPr>
          <p:cNvPr id="54" name="Text 50"/>
          <p:cNvSpPr/>
          <p:nvPr/>
        </p:nvSpPr>
        <p:spPr>
          <a:xfrm>
            <a:off x="5102352" y="411480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where it helps</a:t>
            </a:r>
            <a:endParaRPr lang="en-US" sz="1400" dirty="0"/>
          </a:p>
        </p:txBody>
      </p:sp>
      <p:sp>
        <p:nvSpPr>
          <p:cNvPr id="55" name="Text 51"/>
          <p:cNvSpPr/>
          <p:nvPr/>
        </p:nvSpPr>
        <p:spPr>
          <a:xfrm>
            <a:off x="4599432" y="4681728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 nodes gain an optional LLM interpretation layer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Additive; degrades to deterministic on any failure</a:t>
            </a:r>
            <a:endParaRPr lang="en-US" sz="1080" dirty="0"/>
          </a:p>
        </p:txBody>
      </p:sp>
      <p:sp>
        <p:nvSpPr>
          <p:cNvPr id="56" name="Shape 52"/>
          <p:cNvSpPr/>
          <p:nvPr/>
        </p:nvSpPr>
        <p:spPr>
          <a:xfrm>
            <a:off x="8101584" y="3931920"/>
            <a:ext cx="3538728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57" name="Shape 53"/>
          <p:cNvSpPr/>
          <p:nvPr/>
        </p:nvSpPr>
        <p:spPr>
          <a:xfrm>
            <a:off x="8101584" y="3931920"/>
            <a:ext cx="3538728" cy="82296"/>
          </a:xfrm>
          <a:prstGeom prst="rect">
            <a:avLst/>
          </a:prstGeom>
          <a:solidFill>
            <a:srgbClr val="13355F"/>
          </a:solidFill>
          <a:ln/>
        </p:spPr>
      </p:sp>
      <p:sp>
        <p:nvSpPr>
          <p:cNvPr id="58" name="Shape 54"/>
          <p:cNvSpPr/>
          <p:nvPr/>
        </p:nvSpPr>
        <p:spPr>
          <a:xfrm>
            <a:off x="8321040" y="4133088"/>
            <a:ext cx="457200" cy="457200"/>
          </a:xfrm>
          <a:prstGeom prst="ellipse">
            <a:avLst/>
          </a:prstGeom>
          <a:solidFill>
            <a:srgbClr val="13355F"/>
          </a:solidFill>
          <a:ln/>
        </p:spPr>
      </p:sp>
      <p:pic>
        <p:nvPicPr>
          <p:cNvPr id="59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421624" y="4233672"/>
            <a:ext cx="256032" cy="256032"/>
          </a:xfrm>
          <a:prstGeom prst="rect">
            <a:avLst/>
          </a:prstGeom>
        </p:spPr>
      </p:pic>
      <p:sp>
        <p:nvSpPr>
          <p:cNvPr id="60" name="Text 55"/>
          <p:cNvSpPr/>
          <p:nvPr/>
        </p:nvSpPr>
        <p:spPr>
          <a:xfrm>
            <a:off x="8878824" y="4114800"/>
            <a:ext cx="257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&amp; recovery</a:t>
            </a:r>
            <a:endParaRPr lang="en-US" sz="1400" dirty="0"/>
          </a:p>
        </p:txBody>
      </p:sp>
      <p:sp>
        <p:nvSpPr>
          <p:cNvPr id="61" name="Text 56"/>
          <p:cNvSpPr/>
          <p:nvPr/>
        </p:nvSpPr>
        <p:spPr>
          <a:xfrm>
            <a:off x="8375904" y="4681728"/>
            <a:ext cx="29900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Conditional review router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error_handler: continue vs stop</a:t>
            </a:r>
            <a:endParaRPr lang="en-US" sz="10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97280"/>
            <a:ext cx="12191695" cy="27432"/>
          </a:xfrm>
          <a:prstGeom prst="rect">
            <a:avLst/>
          </a:prstGeom>
          <a:solidFill>
            <a:srgbClr val="DCE5E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310896"/>
            <a:ext cx="128016" cy="502920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502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shared state through every node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MetaMAVS — Project Summary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417320"/>
            <a:ext cx="553212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1417320"/>
            <a:ext cx="5532120" cy="82296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11" name="Shape 9"/>
          <p:cNvSpPr/>
          <p:nvPr/>
        </p:nvSpPr>
        <p:spPr>
          <a:xfrm>
            <a:off x="768096" y="1618488"/>
            <a:ext cx="457200" cy="457200"/>
          </a:xfrm>
          <a:prstGeom prst="ellipse">
            <a:avLst/>
          </a:prstGeom>
          <a:solidFill>
            <a:srgbClr val="0E9AA7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719072"/>
            <a:ext cx="256032" cy="25603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325880" y="16002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MetaMAVSState (TypedDict)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22960" y="2167128"/>
            <a:ext cx="49834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Single structure flowing through all nodes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config, run_id, per-step paths &amp; summaries, warnings/errors, workflow_status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Declared channels — undeclared keys are dropped by LangGraph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6172200" y="1417320"/>
            <a:ext cx="548640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172200" y="1417320"/>
            <a:ext cx="5486400" cy="82296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17" name="Shape 14"/>
          <p:cNvSpPr/>
          <p:nvPr/>
        </p:nvSpPr>
        <p:spPr>
          <a:xfrm>
            <a:off x="6391656" y="1618488"/>
            <a:ext cx="457200" cy="457200"/>
          </a:xfrm>
          <a:prstGeom prst="ellipse">
            <a:avLst/>
          </a:prstGeom>
          <a:solidFill>
            <a:srgbClr val="E08A2B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92240" y="1719072"/>
            <a:ext cx="256032" cy="25603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949440" y="160020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updates + reducers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6446520" y="2167128"/>
            <a:ext cx="4937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Each node returns only the fields it changes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warnings / errors / execution_log use operator.add (append)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Other fields overwrite — explicit, predictable merges</a:t>
            </a:r>
            <a:endParaRPr lang="en-US" sz="1080" dirty="0"/>
          </a:p>
        </p:txBody>
      </p:sp>
      <p:sp>
        <p:nvSpPr>
          <p:cNvPr id="21" name="Shape 17"/>
          <p:cNvSpPr/>
          <p:nvPr/>
        </p:nvSpPr>
        <p:spPr>
          <a:xfrm>
            <a:off x="548640" y="3977640"/>
            <a:ext cx="1110996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48640" y="3977640"/>
            <a:ext cx="11109960" cy="82296"/>
          </a:xfrm>
          <a:prstGeom prst="rect">
            <a:avLst/>
          </a:prstGeom>
          <a:solidFill>
            <a:srgbClr val="2FA36B"/>
          </a:solidFill>
          <a:ln/>
        </p:spPr>
      </p:sp>
      <p:sp>
        <p:nvSpPr>
          <p:cNvPr id="23" name="Shape 19"/>
          <p:cNvSpPr/>
          <p:nvPr/>
        </p:nvSpPr>
        <p:spPr>
          <a:xfrm>
            <a:off x="768096" y="4178808"/>
            <a:ext cx="457200" cy="457200"/>
          </a:xfrm>
          <a:prstGeom prst="ellipse">
            <a:avLst/>
          </a:prstGeom>
          <a:solidFill>
            <a:srgbClr val="2FA36B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68680" y="4279392"/>
            <a:ext cx="256032" cy="25603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325880" y="416052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822960" y="4727448"/>
            <a:ext cx="10561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declared, explicit state is what makes routing, checkpointing, pause/resume and human review possible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 example fixed this session: checkv_contigs had to be declared in the schema or LangGraph silently dropped it — so novel_virus never saw the CheckV data</a:t>
            </a:r>
            <a:endParaRPr lang="en-US" sz="10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97280"/>
            <a:ext cx="12191695" cy="27432"/>
          </a:xfrm>
          <a:prstGeom prst="rect">
            <a:avLst/>
          </a:prstGeom>
          <a:solidFill>
            <a:srgbClr val="DCE5E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310896"/>
            <a:ext cx="128016" cy="502920"/>
          </a:xfrm>
          <a:prstGeom prst="rect">
            <a:avLst/>
          </a:prstGeom>
          <a:solidFill>
            <a:srgbClr val="13355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33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FLOW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502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Routing, human review &amp; error handling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MetaMAVS — Project Summary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417320"/>
            <a:ext cx="3538728" cy="4754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1417320"/>
            <a:ext cx="3538728" cy="82296"/>
          </a:xfrm>
          <a:prstGeom prst="rect">
            <a:avLst/>
          </a:prstGeom>
          <a:solidFill>
            <a:srgbClr val="13355F"/>
          </a:solidFill>
          <a:ln/>
        </p:spPr>
      </p:sp>
      <p:sp>
        <p:nvSpPr>
          <p:cNvPr id="11" name="Shape 9"/>
          <p:cNvSpPr/>
          <p:nvPr/>
        </p:nvSpPr>
        <p:spPr>
          <a:xfrm>
            <a:off x="768096" y="1618488"/>
            <a:ext cx="457200" cy="457200"/>
          </a:xfrm>
          <a:prstGeom prst="ellipse">
            <a:avLst/>
          </a:prstGeom>
          <a:solidFill>
            <a:srgbClr val="13355F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719072"/>
            <a:ext cx="256032" cy="25603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325880" y="1600200"/>
            <a:ext cx="257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review router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22960" y="2167128"/>
            <a:ext cx="2990088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Triggers human review when: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risk High/Critical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novel candidates detected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QC failure / low taxonomy confidence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critical warnings present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4325112" y="1417320"/>
            <a:ext cx="3538728" cy="4754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25112" y="1417320"/>
            <a:ext cx="3538728" cy="82296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17" name="Shape 14"/>
          <p:cNvSpPr/>
          <p:nvPr/>
        </p:nvSpPr>
        <p:spPr>
          <a:xfrm>
            <a:off x="4544568" y="1618488"/>
            <a:ext cx="457200" cy="457200"/>
          </a:xfrm>
          <a:prstGeom prst="ellipse">
            <a:avLst/>
          </a:prstGeom>
          <a:solidFill>
            <a:srgbClr val="E08A2B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45152" y="1719072"/>
            <a:ext cx="256032" cy="25603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102352" y="1600200"/>
            <a:ext cx="257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4599432" y="2167128"/>
            <a:ext cx="2990088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mode: auto (simulate) / interactive / pause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pause: save state &amp; exit; approve later via `metamavs review`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Approval resumes → narrative → report</a:t>
            </a:r>
            <a:endParaRPr lang="en-US" sz="1080" dirty="0"/>
          </a:p>
        </p:txBody>
      </p:sp>
      <p:sp>
        <p:nvSpPr>
          <p:cNvPr id="21" name="Shape 17"/>
          <p:cNvSpPr/>
          <p:nvPr/>
        </p:nvSpPr>
        <p:spPr>
          <a:xfrm>
            <a:off x="8101584" y="1417320"/>
            <a:ext cx="3538728" cy="4754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101584" y="1417320"/>
            <a:ext cx="3538728" cy="82296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23" name="Shape 19"/>
          <p:cNvSpPr/>
          <p:nvPr/>
        </p:nvSpPr>
        <p:spPr>
          <a:xfrm>
            <a:off x="8321040" y="1618488"/>
            <a:ext cx="457200" cy="457200"/>
          </a:xfrm>
          <a:prstGeom prst="ellipse">
            <a:avLst/>
          </a:prstGeom>
          <a:solidFill>
            <a:srgbClr val="0E9AA7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421624" y="1719072"/>
            <a:ext cx="256032" cy="25603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8878824" y="1600200"/>
            <a:ext cx="257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handler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8375904" y="2167128"/>
            <a:ext cx="2990088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Collects &amp; classifies errors by severity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Decides can_continue vs stop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Saves error logs — prevents silent failures</a:t>
            </a:r>
            <a:endParaRPr lang="en-US" sz="10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E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A36B"/>
          </a:solidFill>
          <a:ln/>
        </p:spPr>
      </p:sp>
      <p:sp>
        <p:nvSpPr>
          <p:cNvPr id="3" name="Text 1"/>
          <p:cNvSpPr/>
          <p:nvPr/>
        </p:nvSpPr>
        <p:spPr>
          <a:xfrm>
            <a:off x="7589520" y="640080"/>
            <a:ext cx="45720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3000" b="1" dirty="0">
                <a:solidFill>
                  <a:srgbClr val="1229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3000" dirty="0"/>
          </a:p>
        </p:txBody>
      </p:sp>
      <p:sp>
        <p:nvSpPr>
          <p:cNvPr id="4" name="Text 2"/>
          <p:cNvSpPr/>
          <p:nvPr/>
        </p:nvSpPr>
        <p:spPr>
          <a:xfrm>
            <a:off x="914400" y="2514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2FA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INTEGRATION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92608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Choosing agent-friendly tools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914400" y="39776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selection criteria · why some standard phylo tools are excluded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97280"/>
            <a:ext cx="12191695" cy="27432"/>
          </a:xfrm>
          <a:prstGeom prst="rect">
            <a:avLst/>
          </a:prstGeom>
          <a:solidFill>
            <a:srgbClr val="DCE5E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310896"/>
            <a:ext cx="128016" cy="502920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→ EXPANSION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502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MVP to a full surveillance system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MetaMAVS — Project Summary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417320"/>
            <a:ext cx="55321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1417320"/>
            <a:ext cx="5532120" cy="82296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11" name="Shape 9"/>
          <p:cNvSpPr/>
          <p:nvPr/>
        </p:nvSpPr>
        <p:spPr>
          <a:xfrm>
            <a:off x="768096" y="1618488"/>
            <a:ext cx="457200" cy="457200"/>
          </a:xfrm>
          <a:prstGeom prst="ellipse">
            <a:avLst/>
          </a:prstGeom>
          <a:solidFill>
            <a:srgbClr val="E08A2B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719072"/>
            <a:ext cx="256032" cy="25603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325880" y="16002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Current: an MVP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22960" y="2167128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 far: viral detection + classification only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Minimum Viable Product — limited functionality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6172200" y="1417320"/>
            <a:ext cx="548640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172200" y="1417320"/>
            <a:ext cx="5486400" cy="82296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17" name="Shape 14"/>
          <p:cNvSpPr/>
          <p:nvPr/>
        </p:nvSpPr>
        <p:spPr>
          <a:xfrm>
            <a:off x="6391656" y="1618488"/>
            <a:ext cx="457200" cy="457200"/>
          </a:xfrm>
          <a:prstGeom prst="ellipse">
            <a:avLst/>
          </a:prstGeom>
          <a:solidFill>
            <a:srgbClr val="0E9AA7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92240" y="1719072"/>
            <a:ext cx="256032" cy="25603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949440" y="160020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robust surveillance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6446520" y="2167128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Expand into molecular-epidemiology surveillance of wastewater viruses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Add QC, host removal, abundance, novelty, assembly, risk — as agents</a:t>
            </a:r>
            <a:endParaRPr lang="en-US" sz="1080" dirty="0"/>
          </a:p>
        </p:txBody>
      </p:sp>
      <p:sp>
        <p:nvSpPr>
          <p:cNvPr id="21" name="Shape 17"/>
          <p:cNvSpPr/>
          <p:nvPr/>
        </p:nvSpPr>
        <p:spPr>
          <a:xfrm>
            <a:off x="548640" y="3886200"/>
            <a:ext cx="111099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48640" y="3886200"/>
            <a:ext cx="11109960" cy="82296"/>
          </a:xfrm>
          <a:prstGeom prst="rect">
            <a:avLst/>
          </a:prstGeom>
          <a:solidFill>
            <a:srgbClr val="2FA36B"/>
          </a:solidFill>
          <a:ln/>
        </p:spPr>
      </p:sp>
      <p:sp>
        <p:nvSpPr>
          <p:cNvPr id="23" name="Shape 19"/>
          <p:cNvSpPr/>
          <p:nvPr/>
        </p:nvSpPr>
        <p:spPr>
          <a:xfrm>
            <a:off x="768096" y="4087368"/>
            <a:ext cx="457200" cy="457200"/>
          </a:xfrm>
          <a:prstGeom prst="ellipse">
            <a:avLst/>
          </a:prstGeom>
          <a:solidFill>
            <a:srgbClr val="2FA36B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68680" y="4187952"/>
            <a:ext cx="256032" cy="25603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325880" y="406908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tools are chosen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822960" y="4636008"/>
            <a:ext cx="10561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Bioinformatics tools are integrated only if they are agent-friendly (next slide: 5 criteria)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Agents route on tool results — the tool must be trustworthy, bounded, and machine-readable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next node/agent additions expand downstream analysis one deterministic step at a time</a:t>
            </a:r>
            <a:endParaRPr lang="en-US" sz="10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97280"/>
            <a:ext cx="12191695" cy="27432"/>
          </a:xfrm>
          <a:prstGeom prst="rect">
            <a:avLst/>
          </a:prstGeom>
          <a:solidFill>
            <a:srgbClr val="DCE5E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310896"/>
            <a:ext cx="128016" cy="502920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0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502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criteria for multi-agent tools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MetaMAVS — Project Summary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371600"/>
            <a:ext cx="11091672" cy="85953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1371600"/>
            <a:ext cx="91440" cy="859536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572768"/>
            <a:ext cx="457200" cy="457200"/>
          </a:xfrm>
          <a:prstGeom prst="ellipse">
            <a:avLst/>
          </a:prstGeom>
          <a:solidFill>
            <a:srgbClr val="0E9AA7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7824" y="1673352"/>
            <a:ext cx="256032" cy="25603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371600" y="1499616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Deterministic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72000" y="1499616"/>
            <a:ext cx="6858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input → same output. Agents route on results; random fluctuation breaks the decision chain.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2340864"/>
            <a:ext cx="11091672" cy="85953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48640" y="2340864"/>
            <a:ext cx="91440" cy="859536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17" name="Shape 14"/>
          <p:cNvSpPr/>
          <p:nvPr/>
        </p:nvSpPr>
        <p:spPr>
          <a:xfrm>
            <a:off x="777240" y="2542032"/>
            <a:ext cx="457200" cy="457200"/>
          </a:xfrm>
          <a:prstGeom prst="ellipse">
            <a:avLst/>
          </a:prstGeom>
          <a:solidFill>
            <a:srgbClr val="0E9AA7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77824" y="2642616"/>
            <a:ext cx="256032" cy="25603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371600" y="2468880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Fast, bounded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4572000" y="2468880"/>
            <a:ext cx="6858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runtime with a predictable upper bound. No hours/days-long calls in a loop.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48640" y="3310128"/>
            <a:ext cx="11091672" cy="85953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48640" y="3310128"/>
            <a:ext cx="91440" cy="859536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23" name="Shape 19"/>
          <p:cNvSpPr/>
          <p:nvPr/>
        </p:nvSpPr>
        <p:spPr>
          <a:xfrm>
            <a:off x="777240" y="3511296"/>
            <a:ext cx="457200" cy="457200"/>
          </a:xfrm>
          <a:prstGeom prst="ellipse">
            <a:avLst/>
          </a:prstGeom>
          <a:solidFill>
            <a:srgbClr val="0E9AA7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77824" y="3611880"/>
            <a:ext cx="256032" cy="25603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371600" y="3438144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Self-contained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4572000" y="3438144"/>
            <a:ext cx="6858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'Call once, get one answer' — not a whole workflow engine (no orchestrator-inside-an-orchestrator).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548640" y="4279392"/>
            <a:ext cx="11091672" cy="85953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548640" y="4279392"/>
            <a:ext cx="91440" cy="859536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29" name="Shape 24"/>
          <p:cNvSpPr/>
          <p:nvPr/>
        </p:nvSpPr>
        <p:spPr>
          <a:xfrm>
            <a:off x="777240" y="4480560"/>
            <a:ext cx="457200" cy="457200"/>
          </a:xfrm>
          <a:prstGeom prst="ellipse">
            <a:avLst/>
          </a:prstGeom>
          <a:solidFill>
            <a:srgbClr val="0E9AA7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77824" y="4581144"/>
            <a:ext cx="256032" cy="256032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1371600" y="440740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Actionable output</a:t>
            </a:r>
            <a:endParaRPr lang="en-US" sz="1350" dirty="0"/>
          </a:p>
        </p:txBody>
      </p:sp>
      <p:sp>
        <p:nvSpPr>
          <p:cNvPr id="32" name="Text 26"/>
          <p:cNvSpPr/>
          <p:nvPr/>
        </p:nvSpPr>
        <p:spPr>
          <a:xfrm>
            <a:off x="4572000" y="4407408"/>
            <a:ext cx="6858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Structured, machine-readable, carries a semantic verdict the agent can route on directly.</a:t>
            </a:r>
            <a:endParaRPr lang="en-US" sz="1100" dirty="0"/>
          </a:p>
        </p:txBody>
      </p:sp>
      <p:sp>
        <p:nvSpPr>
          <p:cNvPr id="33" name="Shape 27"/>
          <p:cNvSpPr/>
          <p:nvPr/>
        </p:nvSpPr>
        <p:spPr>
          <a:xfrm>
            <a:off x="548640" y="5248656"/>
            <a:ext cx="11091672" cy="85953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34" name="Shape 28"/>
          <p:cNvSpPr/>
          <p:nvPr/>
        </p:nvSpPr>
        <p:spPr>
          <a:xfrm>
            <a:off x="548640" y="5248656"/>
            <a:ext cx="91440" cy="859536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35" name="Shape 29"/>
          <p:cNvSpPr/>
          <p:nvPr/>
        </p:nvSpPr>
        <p:spPr>
          <a:xfrm>
            <a:off x="777240" y="5449824"/>
            <a:ext cx="457200" cy="457200"/>
          </a:xfrm>
          <a:prstGeom prst="ellipse">
            <a:avLst/>
          </a:prstGeom>
          <a:solidFill>
            <a:srgbClr val="0E9AA7"/>
          </a:solidFill>
          <a:ln/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77824" y="5550408"/>
            <a:ext cx="256032" cy="256032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1371600" y="537667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Fail-loud</a:t>
            </a:r>
            <a:endParaRPr lang="en-US" sz="1350" dirty="0"/>
          </a:p>
        </p:txBody>
      </p:sp>
      <p:sp>
        <p:nvSpPr>
          <p:cNvPr id="38" name="Text 31"/>
          <p:cNvSpPr/>
          <p:nvPr/>
        </p:nvSpPr>
        <p:spPr>
          <a:xfrm>
            <a:off x="4572000" y="5376672"/>
            <a:ext cx="6858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explicitly on bad input — never silently produces plausible-but-invalid results.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97280"/>
            <a:ext cx="12191695" cy="27432"/>
          </a:xfrm>
          <a:prstGeom prst="rect">
            <a:avLst/>
          </a:prstGeom>
          <a:solidFill>
            <a:srgbClr val="DCE5E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310896"/>
            <a:ext cx="128016" cy="502920"/>
          </a:xfrm>
          <a:prstGeom prst="rect">
            <a:avLst/>
          </a:prstGeom>
          <a:solidFill>
            <a:srgbClr val="13355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33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EXCLUDED: BEAST2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502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BEAST2 is not agent-suitable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MetaMAVS — Project Summary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417320"/>
            <a:ext cx="5532120" cy="4754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1417320"/>
            <a:ext cx="5532120" cy="82296"/>
          </a:xfrm>
          <a:prstGeom prst="rect">
            <a:avLst/>
          </a:prstGeom>
          <a:solidFill>
            <a:srgbClr val="13355F"/>
          </a:solidFill>
          <a:ln/>
        </p:spPr>
      </p:sp>
      <p:sp>
        <p:nvSpPr>
          <p:cNvPr id="11" name="Shape 9"/>
          <p:cNvSpPr/>
          <p:nvPr/>
        </p:nvSpPr>
        <p:spPr>
          <a:xfrm>
            <a:off x="768096" y="1618488"/>
            <a:ext cx="457200" cy="457200"/>
          </a:xfrm>
          <a:prstGeom prst="ellipse">
            <a:avLst/>
          </a:prstGeom>
          <a:solidFill>
            <a:srgbClr val="13355F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719072"/>
            <a:ext cx="256032" cy="25603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325880" y="16002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BEAST2 (Bayesian phylodynamics)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22960" y="2167128"/>
            <a:ext cx="498348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Not reproducible — MCMC gives different results each run; agents need consistent output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predictable runtime — hours to days, no reliable upper bound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Needs a human to validate — you can't trust a run without checking convergence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Wrong inputs fail silently — bad model/prior → plausible but invalid results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6172200" y="1417320"/>
            <a:ext cx="5486400" cy="4754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172200" y="1417320"/>
            <a:ext cx="5486400" cy="82296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17" name="Shape 14"/>
          <p:cNvSpPr/>
          <p:nvPr/>
        </p:nvSpPr>
        <p:spPr>
          <a:xfrm>
            <a:off x="6391656" y="1618488"/>
            <a:ext cx="457200" cy="457200"/>
          </a:xfrm>
          <a:prstGeom prst="ellipse">
            <a:avLst/>
          </a:prstGeom>
          <a:solidFill>
            <a:srgbClr val="0E9AA7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92240" y="1719072"/>
            <a:ext cx="256032" cy="25603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949440" y="160020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agent-friendly looks like instead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6446520" y="2167128"/>
            <a:ext cx="493776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Deterministic, single-call classification/QC tools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clear pass/fail or clade/verdict the agent can route on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Bounded, fast runtime that fits a real-time pipeline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e.g. Nextclade-style lightweight, real-time placement</a:t>
            </a:r>
            <a:endParaRPr lang="en-US" sz="10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97280"/>
            <a:ext cx="12191695" cy="27432"/>
          </a:xfrm>
          <a:prstGeom prst="rect">
            <a:avLst/>
          </a:prstGeom>
          <a:solidFill>
            <a:srgbClr val="DCE5E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310896"/>
            <a:ext cx="128016" cy="502920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0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EXCLUDED: IQ-TREE &amp; NEXTSTRAIN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502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more tools that don't fit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MetaMAVS — Project Summary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417320"/>
            <a:ext cx="5532120" cy="4754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1417320"/>
            <a:ext cx="5532120" cy="82296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11" name="Shape 9"/>
          <p:cNvSpPr/>
          <p:nvPr/>
        </p:nvSpPr>
        <p:spPr>
          <a:xfrm>
            <a:off x="768096" y="1618488"/>
            <a:ext cx="457200" cy="457200"/>
          </a:xfrm>
          <a:prstGeom prst="ellipse">
            <a:avLst/>
          </a:prstGeom>
          <a:solidFill>
            <a:srgbClr val="E08A2B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719072"/>
            <a:ext cx="256032" cy="25603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325880" y="16002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IQ-TREE (ML phylogenetics)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22960" y="2167128"/>
            <a:ext cx="498348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Unbounded runtime — ML tree search scales unpredictably with sequence count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Rebuilds the tree from scratch each call; real-time wants to place a new sequence into a known reference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actionable output — returns a tree, but no clade assignment / QC verdict to route on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6172200" y="1417320"/>
            <a:ext cx="5486400" cy="4754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172200" y="1417320"/>
            <a:ext cx="5486400" cy="82296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17" name="Shape 14"/>
          <p:cNvSpPr/>
          <p:nvPr/>
        </p:nvSpPr>
        <p:spPr>
          <a:xfrm>
            <a:off x="6391656" y="1618488"/>
            <a:ext cx="457200" cy="457200"/>
          </a:xfrm>
          <a:prstGeom prst="ellipse">
            <a:avLst/>
          </a:prstGeom>
          <a:solidFill>
            <a:srgbClr val="E08A2B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92240" y="1719072"/>
            <a:ext cx="256032" cy="25603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949440" y="160020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Nextstrain (workflow, not a tool)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6446520" y="2167128"/>
            <a:ext cx="493776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whole workflow: Augur chain + Auspice + Snakemake builds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Orchestrator-inside-an-orchestrator if embedded in LangGraph — messy &amp; redundant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Built for curated batch builds, not single calls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Redundant with Nextclade (its lightweight real-time counterpart)</a:t>
            </a:r>
            <a:endParaRPr lang="en-US" sz="10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E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3" name="Text 1"/>
          <p:cNvSpPr/>
          <p:nvPr/>
        </p:nvSpPr>
        <p:spPr>
          <a:xfrm>
            <a:off x="7589520" y="640080"/>
            <a:ext cx="45720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3000" b="1" dirty="0">
                <a:solidFill>
                  <a:srgbClr val="1229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3000" dirty="0"/>
          </a:p>
        </p:txBody>
      </p:sp>
      <p:sp>
        <p:nvSpPr>
          <p:cNvPr id="4" name="Text 2"/>
          <p:cNvSpPr/>
          <p:nvPr/>
        </p:nvSpPr>
        <p:spPr>
          <a:xfrm>
            <a:off x="914400" y="2514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92608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tsv to the report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914400" y="39776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misconceptions · the deterministic chain · where the LLM sits · the prompts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97280"/>
            <a:ext cx="12191695" cy="27432"/>
          </a:xfrm>
          <a:prstGeom prst="rect">
            <a:avLst/>
          </a:prstGeom>
          <a:solidFill>
            <a:srgbClr val="DCE5E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310896"/>
            <a:ext cx="128016" cy="502920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0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MISCONCEPTIONS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502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things people usually get wrong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MetaMAVS — Project Summary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463040"/>
            <a:ext cx="553212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1463040"/>
            <a:ext cx="5532120" cy="82296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11" name="Shape 9"/>
          <p:cNvSpPr/>
          <p:nvPr/>
        </p:nvSpPr>
        <p:spPr>
          <a:xfrm>
            <a:off x="768096" y="1664208"/>
            <a:ext cx="457200" cy="457200"/>
          </a:xfrm>
          <a:prstGeom prst="ellipse">
            <a:avLst/>
          </a:prstGeom>
          <a:solidFill>
            <a:srgbClr val="E08A2B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764792"/>
            <a:ext cx="256032" cy="25603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325880" y="16459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The report is not LLM-generated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22960" y="2212848"/>
            <a:ext cx="49834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report_writer is deterministic Python — no LLM call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model writes only ONE section (the narrative) + short [LLM] reasoning strings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It assembles report.md from the state tables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6172200" y="1463040"/>
            <a:ext cx="548640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172200" y="1463040"/>
            <a:ext cx="5486400" cy="82296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17" name="Shape 14"/>
          <p:cNvSpPr/>
          <p:nvPr/>
        </p:nvSpPr>
        <p:spPr>
          <a:xfrm>
            <a:off x="6391656" y="1664208"/>
            <a:ext cx="457200" cy="457200"/>
          </a:xfrm>
          <a:prstGeom prst="ellipse">
            <a:avLst/>
          </a:prstGeom>
          <a:solidFill>
            <a:srgbClr val="0E9AA7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92240" y="1764792"/>
            <a:ext cx="256032" cy="25603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949440" y="164592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The LLM never reads the raw tsv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6446520" y="2212848"/>
            <a:ext cx="49377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It reads deterministically-computed summaries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GOTTCHA2/CheckV tsv are parsed → tables → summaries → JSON prompt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'Use only this data' — no invented numbers</a:t>
            </a:r>
            <a:endParaRPr lang="en-US" sz="1080" dirty="0"/>
          </a:p>
        </p:txBody>
      </p:sp>
      <p:sp>
        <p:nvSpPr>
          <p:cNvPr id="21" name="Text 17"/>
          <p:cNvSpPr/>
          <p:nvPr/>
        </p:nvSpPr>
        <p:spPr>
          <a:xfrm>
            <a:off x="548640" y="48463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"Gemma/Claude produced the report" really means: the model wrote the interpretation paragraph that the deterministic writer embedded.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97280"/>
            <a:ext cx="12191695" cy="27432"/>
          </a:xfrm>
          <a:prstGeom prst="rect">
            <a:avLst/>
          </a:prstGeom>
          <a:solidFill>
            <a:srgbClr val="DCE5E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310896"/>
            <a:ext cx="128016" cy="502920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502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deterministic chain, then the LLM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MetaMAVS — Project Summary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1508760"/>
            <a:ext cx="1380193" cy="603504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508760"/>
            <a:ext cx="128875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.tsv + lineage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020273" y="1508760"/>
            <a:ext cx="182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148289" y="1508760"/>
            <a:ext cx="2760386" cy="603504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13" name="Text 11"/>
          <p:cNvSpPr/>
          <p:nvPr/>
        </p:nvSpPr>
        <p:spPr>
          <a:xfrm>
            <a:off x="2194009" y="1508760"/>
            <a:ext cx="266894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parse_gottcha2 / checkv / homology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908675" y="1508760"/>
            <a:ext cx="182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36691" y="1508760"/>
            <a:ext cx="2530354" cy="603504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16" name="Text 14"/>
          <p:cNvSpPr/>
          <p:nvPr/>
        </p:nvSpPr>
        <p:spPr>
          <a:xfrm>
            <a:off x="5082411" y="1508760"/>
            <a:ext cx="24389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taxonomy → abundance → risk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567046" y="1508760"/>
            <a:ext cx="182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695062" y="1508760"/>
            <a:ext cx="1380193" cy="603504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19" name="Text 17"/>
          <p:cNvSpPr/>
          <p:nvPr/>
        </p:nvSpPr>
        <p:spPr>
          <a:xfrm>
            <a:off x="7740782" y="1508760"/>
            <a:ext cx="128875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interpret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075255" y="1508760"/>
            <a:ext cx="182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203271" y="1508760"/>
            <a:ext cx="1495209" cy="603504"/>
          </a:xfrm>
          <a:prstGeom prst="rect">
            <a:avLst/>
          </a:prstGeom>
          <a:solidFill>
            <a:srgbClr val="2FA36B"/>
          </a:solidFill>
          <a:ln/>
        </p:spPr>
      </p:sp>
      <p:sp>
        <p:nvSpPr>
          <p:cNvPr id="22" name="Text 20"/>
          <p:cNvSpPr/>
          <p:nvPr/>
        </p:nvSpPr>
        <p:spPr>
          <a:xfrm>
            <a:off x="9248991" y="1508760"/>
            <a:ext cx="140376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report_writer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2331720"/>
            <a:ext cx="553212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8640" y="2331720"/>
            <a:ext cx="5532120" cy="82296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25" name="Shape 23"/>
          <p:cNvSpPr/>
          <p:nvPr/>
        </p:nvSpPr>
        <p:spPr>
          <a:xfrm>
            <a:off x="768096" y="2532888"/>
            <a:ext cx="457200" cy="457200"/>
          </a:xfrm>
          <a:prstGeom prst="ellipse">
            <a:avLst/>
          </a:prstGeom>
          <a:solidFill>
            <a:srgbClr val="0E9AA7"/>
          </a:solidFill>
          <a:ln/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2633472"/>
            <a:ext cx="256032" cy="256032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1325880" y="25146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computes the numbers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822960" y="3081528"/>
            <a:ext cx="4983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Parsers normalize tool outputs → 8 tables/*.csv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taxonomy / abundance / risk agents compute summaries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LLM never recomputes numbers</a:t>
            </a:r>
            <a:endParaRPr lang="en-US" sz="1080" dirty="0"/>
          </a:p>
        </p:txBody>
      </p:sp>
      <p:sp>
        <p:nvSpPr>
          <p:cNvPr id="29" name="Shape 26"/>
          <p:cNvSpPr/>
          <p:nvPr/>
        </p:nvSpPr>
        <p:spPr>
          <a:xfrm>
            <a:off x="6172200" y="2331720"/>
            <a:ext cx="548640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172200" y="2331720"/>
            <a:ext cx="5486400" cy="82296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31" name="Shape 28"/>
          <p:cNvSpPr/>
          <p:nvPr/>
        </p:nvSpPr>
        <p:spPr>
          <a:xfrm>
            <a:off x="6391656" y="2532888"/>
            <a:ext cx="457200" cy="457200"/>
          </a:xfrm>
          <a:prstGeom prst="ellipse">
            <a:avLst/>
          </a:prstGeom>
          <a:solidFill>
            <a:srgbClr val="E08A2B"/>
          </a:solidFill>
          <a:ln/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92240" y="2633472"/>
            <a:ext cx="256032" cy="256032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6949440" y="251460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only interprets</a:t>
            </a:r>
            <a:endParaRPr lang="en-US" sz="1400" dirty="0"/>
          </a:p>
        </p:txBody>
      </p:sp>
      <p:sp>
        <p:nvSpPr>
          <p:cNvPr id="34" name="Text 30"/>
          <p:cNvSpPr/>
          <p:nvPr/>
        </p:nvSpPr>
        <p:spPr>
          <a:xfrm>
            <a:off x="6446520" y="3081528"/>
            <a:ext cx="4937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Reads the computed summaries (not raw tsv)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Writes the narrative + [LLM] reasoning strings</a:t>
            </a:r>
            <a:endParaRPr lang="en-US" sz="1080" dirty="0"/>
          </a:p>
        </p:txBody>
      </p:sp>
      <p:sp>
        <p:nvSpPr>
          <p:cNvPr id="35" name="Shape 31"/>
          <p:cNvSpPr/>
          <p:nvPr/>
        </p:nvSpPr>
        <p:spPr>
          <a:xfrm>
            <a:off x="548640" y="4572000"/>
            <a:ext cx="1110996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36" name="Shape 32"/>
          <p:cNvSpPr/>
          <p:nvPr/>
        </p:nvSpPr>
        <p:spPr>
          <a:xfrm>
            <a:off x="548640" y="4572000"/>
            <a:ext cx="11109960" cy="82296"/>
          </a:xfrm>
          <a:prstGeom prst="rect">
            <a:avLst/>
          </a:prstGeom>
          <a:solidFill>
            <a:srgbClr val="13355F"/>
          </a:solidFill>
          <a:ln/>
        </p:spPr>
      </p:sp>
      <p:sp>
        <p:nvSpPr>
          <p:cNvPr id="37" name="Shape 33"/>
          <p:cNvSpPr/>
          <p:nvPr/>
        </p:nvSpPr>
        <p:spPr>
          <a:xfrm>
            <a:off x="768096" y="4773168"/>
            <a:ext cx="457200" cy="457200"/>
          </a:xfrm>
          <a:prstGeom prst="ellipse">
            <a:avLst/>
          </a:prstGeom>
          <a:solidFill>
            <a:srgbClr val="13355F"/>
          </a:solidFill>
          <a:ln/>
        </p:spPr>
      </p:sp>
      <p:pic>
        <p:nvPicPr>
          <p:cNvPr id="38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68680" y="4873752"/>
            <a:ext cx="256032" cy="256032"/>
          </a:xfrm>
          <a:prstGeom prst="rect">
            <a:avLst/>
          </a:prstGeom>
        </p:spPr>
      </p:pic>
      <p:sp>
        <p:nvSpPr>
          <p:cNvPr id="39" name="Text 34"/>
          <p:cNvSpPr/>
          <p:nvPr/>
        </p:nvSpPr>
        <p:spPr>
          <a:xfrm>
            <a:off x="1325880" y="475488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report_writer (deterministic) assembles report.md / .html</a:t>
            </a:r>
            <a:endParaRPr lang="en-US" sz="1400" dirty="0"/>
          </a:p>
        </p:txBody>
      </p:sp>
      <p:sp>
        <p:nvSpPr>
          <p:cNvPr id="40" name="Text 35"/>
          <p:cNvSpPr/>
          <p:nvPr/>
        </p:nvSpPr>
        <p:spPr>
          <a:xfrm>
            <a:off x="822960" y="5321808"/>
            <a:ext cx="10561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Concatenates sections from state tables; embeds each agent's LLM output in its section; renders Markdown → HTML — no LLM call anywhere in the writer</a:t>
            </a:r>
            <a:endParaRPr lang="en-US" sz="10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97280"/>
            <a:ext cx="12191695" cy="27432"/>
          </a:xfrm>
          <a:prstGeom prst="rect">
            <a:avLst/>
          </a:prstGeom>
          <a:solidFill>
            <a:srgbClr val="DCE5E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310896"/>
            <a:ext cx="128016" cy="502920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0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502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three prompt pieces (per LLM node)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MetaMAVS — Project Summary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417320"/>
            <a:ext cx="3538728" cy="4754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1417320"/>
            <a:ext cx="3538728" cy="82296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11" name="Shape 9"/>
          <p:cNvSpPr/>
          <p:nvPr/>
        </p:nvSpPr>
        <p:spPr>
          <a:xfrm>
            <a:off x="768096" y="1618488"/>
            <a:ext cx="457200" cy="457200"/>
          </a:xfrm>
          <a:prstGeom prst="ellipse">
            <a:avLst/>
          </a:prstGeom>
          <a:solidFill>
            <a:srgbClr val="E08A2B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719072"/>
            <a:ext cx="256032" cy="25603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325880" y="1600200"/>
            <a:ext cx="257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System prompt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22960" y="2167128"/>
            <a:ext cx="2990088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Role + hard scientific-caution rules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'DETECTED SEQUENCE SIGNALS', not confirmed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&lt;10 reads = weak; phages separate; High/Critical → recommend RT-qPCR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invented taxa/numbers; 4 sections, &lt;450 words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4325112" y="1417320"/>
            <a:ext cx="3538728" cy="4754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25112" y="1417320"/>
            <a:ext cx="3538728" cy="82296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17" name="Shape 14"/>
          <p:cNvSpPr/>
          <p:nvPr/>
        </p:nvSpPr>
        <p:spPr>
          <a:xfrm>
            <a:off x="4544568" y="1618488"/>
            <a:ext cx="457200" cy="457200"/>
          </a:xfrm>
          <a:prstGeom prst="ellipse">
            <a:avLst/>
          </a:prstGeom>
          <a:solidFill>
            <a:srgbClr val="0E9AA7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45152" y="1719072"/>
            <a:ext cx="256032" cy="25603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102352" y="1600200"/>
            <a:ext cx="257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User prompt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4599432" y="2167128"/>
            <a:ext cx="2990088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run's structured summaries as JSON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run/samples/sites/dates, tools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overall_risk, counts, top_risk_taxa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Prefixed 'Use only this data.'</a:t>
            </a:r>
            <a:endParaRPr lang="en-US" sz="1080" dirty="0"/>
          </a:p>
        </p:txBody>
      </p:sp>
      <p:sp>
        <p:nvSpPr>
          <p:cNvPr id="21" name="Shape 17"/>
          <p:cNvSpPr/>
          <p:nvPr/>
        </p:nvSpPr>
        <p:spPr>
          <a:xfrm>
            <a:off x="8101584" y="1417320"/>
            <a:ext cx="3538728" cy="4754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101584" y="1417320"/>
            <a:ext cx="3538728" cy="82296"/>
          </a:xfrm>
          <a:prstGeom prst="rect">
            <a:avLst/>
          </a:prstGeom>
          <a:solidFill>
            <a:srgbClr val="13355F"/>
          </a:solidFill>
          <a:ln/>
        </p:spPr>
      </p:sp>
      <p:sp>
        <p:nvSpPr>
          <p:cNvPr id="23" name="Shape 19"/>
          <p:cNvSpPr/>
          <p:nvPr/>
        </p:nvSpPr>
        <p:spPr>
          <a:xfrm>
            <a:off x="8321040" y="1618488"/>
            <a:ext cx="457200" cy="457200"/>
          </a:xfrm>
          <a:prstGeom prst="ellipse">
            <a:avLst/>
          </a:prstGeom>
          <a:solidFill>
            <a:srgbClr val="13355F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421624" y="1719072"/>
            <a:ext cx="256032" cy="25603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8878824" y="1600200"/>
            <a:ext cx="257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Cached prefix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8375904" y="2167128"/>
            <a:ext cx="2990088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SHARED_REFERENCE: curated pathogen background + rules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Per-taxon pathogen snippets appended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Reused across agents → prefix-cache hits, lower cost</a:t>
            </a:r>
            <a:endParaRPr lang="en-US" sz="10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E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3" name="Text 1"/>
          <p:cNvSpPr/>
          <p:nvPr/>
        </p:nvSpPr>
        <p:spPr>
          <a:xfrm>
            <a:off x="7589520" y="640080"/>
            <a:ext cx="45720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3000" b="1" dirty="0">
                <a:solidFill>
                  <a:srgbClr val="1229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3000" dirty="0"/>
          </a:p>
        </p:txBody>
      </p:sp>
      <p:sp>
        <p:nvSpPr>
          <p:cNvPr id="4" name="Text 2"/>
          <p:cNvSpPr/>
          <p:nvPr/>
        </p:nvSpPr>
        <p:spPr>
          <a:xfrm>
            <a:off x="914400" y="2514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E0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6 AI AGENTS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92608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Triggers, data &amp; inference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914400" y="39776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gate · trigger table · report mapping · one slide per agent (real Genome_72)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3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97280"/>
            <a:ext cx="12191695" cy="27432"/>
          </a:xfrm>
          <a:prstGeom prst="rect">
            <a:avLst/>
          </a:prstGeom>
          <a:solidFill>
            <a:srgbClr val="DCE5E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310896"/>
            <a:ext cx="128016" cy="502920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GATE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502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an agent fires — and how we prove it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MetaMAVS — Project Summary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463040"/>
            <a:ext cx="553212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1463040"/>
            <a:ext cx="5532120" cy="82296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11" name="Shape 9"/>
          <p:cNvSpPr/>
          <p:nvPr/>
        </p:nvSpPr>
        <p:spPr>
          <a:xfrm>
            <a:off x="768096" y="1664208"/>
            <a:ext cx="457200" cy="457200"/>
          </a:xfrm>
          <a:prstGeom prst="ellipse">
            <a:avLst/>
          </a:prstGeom>
          <a:solidFill>
            <a:srgbClr val="0E9AA7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764792"/>
            <a:ext cx="256032" cy="25603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325880" y="16459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trigger gate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22960" y="2212848"/>
            <a:ext cx="49834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llm.enabled  AND  llm_available()  AND  &lt;this agent has real input&gt;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Optional &amp; additive — any miss → clean deterministic fallback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cloud key ever required for Phases 1–3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6172200" y="1463040"/>
            <a:ext cx="548640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172200" y="1463040"/>
            <a:ext cx="5486400" cy="82296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17" name="Shape 14"/>
          <p:cNvSpPr/>
          <p:nvPr/>
        </p:nvSpPr>
        <p:spPr>
          <a:xfrm>
            <a:off x="6391656" y="1664208"/>
            <a:ext cx="457200" cy="457200"/>
          </a:xfrm>
          <a:prstGeom prst="ellipse">
            <a:avLst/>
          </a:prstGeom>
          <a:solidFill>
            <a:srgbClr val="E08A2B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92240" y="1764792"/>
            <a:ext cx="256032" cy="25603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949440" y="164592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it fired: the mode marker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6446520" y="2212848"/>
            <a:ext cx="4937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Each agent stamps a mode in its summary (llm / llm+ncbi)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scripts/check_agents.py reads state and reports the count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Verified 6/6 on the real Genome_72 run</a:t>
            </a:r>
            <a:endParaRPr lang="en-US" sz="1080" dirty="0"/>
          </a:p>
        </p:txBody>
      </p:sp>
      <p:sp>
        <p:nvSpPr>
          <p:cNvPr id="21" name="Shape 17"/>
          <p:cNvSpPr/>
          <p:nvPr/>
        </p:nvSpPr>
        <p:spPr>
          <a:xfrm>
            <a:off x="548640" y="3977640"/>
            <a:ext cx="1110996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48640" y="3977640"/>
            <a:ext cx="11109960" cy="82296"/>
          </a:xfrm>
          <a:prstGeom prst="rect">
            <a:avLst/>
          </a:prstGeom>
          <a:solidFill>
            <a:srgbClr val="13355F"/>
          </a:solidFill>
          <a:ln/>
        </p:spPr>
      </p:sp>
      <p:sp>
        <p:nvSpPr>
          <p:cNvPr id="23" name="Shape 19"/>
          <p:cNvSpPr/>
          <p:nvPr/>
        </p:nvSpPr>
        <p:spPr>
          <a:xfrm>
            <a:off x="768096" y="4178808"/>
            <a:ext cx="457200" cy="457200"/>
          </a:xfrm>
          <a:prstGeom prst="ellipse">
            <a:avLst/>
          </a:prstGeom>
          <a:solidFill>
            <a:srgbClr val="13355F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68680" y="4279392"/>
            <a:ext cx="256032" cy="25603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325880" y="416052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in the graph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822960" y="4727448"/>
            <a:ext cx="10561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qc · taxonomy · abundance · novel_virus · risk fire PRE-review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narrative fires AFTER human-review approval (then report_writer runs)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qc's LLM fires in the parser once real FastQC data is downloaded (async on the cluster)</a:t>
            </a:r>
            <a:endParaRPr lang="en-US" sz="108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3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97280"/>
            <a:ext cx="12191695" cy="27432"/>
          </a:xfrm>
          <a:prstGeom prst="rect">
            <a:avLst/>
          </a:prstGeom>
          <a:solidFill>
            <a:srgbClr val="DCE5E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310896"/>
            <a:ext cx="128016" cy="502920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0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CONDITIONS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502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condition &amp; marker per agent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MetaMAVS — Project Summary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14173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pPr indent="0" marL="0">
              <a:buNone/>
            </a:pPr>
            <a:r>
              <a:rPr lang="en-US" sz="1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CONDITION (the trigger)</a:t>
            </a:r>
            <a:pPr indent="0" marL="0">
              <a:buNone/>
            </a:pPr>
            <a:r>
              <a:rPr lang="en-US" sz="1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MARKER</a:t>
            </a:r>
            <a:pPr indent="0" marL="0">
              <a:buNone/>
            </a:pPr>
            <a:r>
              <a:rPr lang="en-US" sz="1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</a:t>
            </a:r>
            <a:endParaRPr lang="en-US" sz="10" dirty="0"/>
          </a:p>
        </p:txBody>
      </p:sp>
      <p:sp>
        <p:nvSpPr>
          <p:cNvPr id="10" name="Text 8"/>
          <p:cNvSpPr/>
          <p:nvPr/>
        </p:nvSpPr>
        <p:spPr>
          <a:xfrm>
            <a:off x="640080" y="141732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468880" y="141732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CONDITION (the trigger)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766560" y="141732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MARKER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509760" y="1417320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1783080"/>
            <a:ext cx="1109167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178308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qc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468880" y="1783080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FastQC metrics (note not synthetic)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766560" y="178308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qc_summary.llm_assessment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509760" y="178308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parse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2350008"/>
            <a:ext cx="11091672" cy="566928"/>
          </a:xfrm>
          <a:prstGeom prst="rect">
            <a:avLst/>
          </a:prstGeom>
          <a:solidFill>
            <a:srgbClr val="E9F0F8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2350008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taxonomy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468880" y="2350008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non-empty candidates (GOTTCHA2 hits)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66560" y="235000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taxonomy_summary.mode=llm+ncbi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9509760" y="2350008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pre-review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2916936"/>
            <a:ext cx="1109167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2916936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abundance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468880" y="2916936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non-empty RPM trends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66560" y="291693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trend_summary.mode=llm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9509760" y="2916936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pre-review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3483864"/>
            <a:ext cx="11091672" cy="566928"/>
          </a:xfrm>
          <a:prstGeom prst="rect">
            <a:avLst/>
          </a:prstGeom>
          <a:solidFill>
            <a:srgbClr val="E9F0F8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3483864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novel_virus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468880" y="3483864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non-empty candidates (CheckV contigs)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766560" y="348386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novel_candidate_summary.mode=llm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9509760" y="3483864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pre-review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48640" y="4050792"/>
            <a:ext cx="1109167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" y="4050792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risk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2468880" y="4050792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non-empty per-taxon evidence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766560" y="40507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risk_summary.mode=llm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9509760" y="4050792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pre-review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48640" y="4617720"/>
            <a:ext cx="11091672" cy="566928"/>
          </a:xfrm>
          <a:prstGeom prst="rect">
            <a:avLst/>
          </a:prstGeom>
          <a:solidFill>
            <a:srgbClr val="E9F0F8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461772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narrative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2468880" y="4617720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enabled + available (state always present)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766560" y="461772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llm_narrative.status=ok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9509760" y="461772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post-approval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3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97280"/>
            <a:ext cx="12191695" cy="27432"/>
          </a:xfrm>
          <a:prstGeom prst="rect">
            <a:avLst/>
          </a:prstGeom>
          <a:solidFill>
            <a:srgbClr val="DCE5E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310896"/>
            <a:ext cx="128016" cy="502920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MAPPING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502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each agent feeds into report.md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MetaMAVS — Project Summary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14173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pPr indent="0" marL="0">
              <a:buNone/>
            </a:pPr>
            <a:r>
              <a:rPr lang="en-US" sz="1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FIELD (material)</a:t>
            </a:r>
            <a:pPr indent="0" marL="0">
              <a:buNone/>
            </a:pPr>
            <a:r>
              <a:rPr lang="en-US" sz="1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report.md SECTION</a:t>
            </a:r>
            <a:endParaRPr lang="en-US" sz="10" dirty="0"/>
          </a:p>
        </p:txBody>
      </p:sp>
      <p:sp>
        <p:nvSpPr>
          <p:cNvPr id="10" name="Text 8"/>
          <p:cNvSpPr/>
          <p:nvPr/>
        </p:nvSpPr>
        <p:spPr>
          <a:xfrm>
            <a:off x="640080" y="141732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468880" y="1417320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FIELD (material)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675120" y="1417320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report.md SECTION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1783080"/>
            <a:ext cx="1109167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178308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6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qc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468880" y="1783080"/>
            <a:ext cx="4069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qc_summary.llm_assessment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675120" y="1783080"/>
            <a:ext cx="4919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 QC → AI QC note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2350008"/>
            <a:ext cx="11091672" cy="566928"/>
          </a:xfrm>
          <a:prstGeom prst="rect">
            <a:avLst/>
          </a:prstGeom>
          <a:solidFill>
            <a:srgbClr val="E9F0F8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350008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6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taxonomy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468880" y="2350008"/>
            <a:ext cx="4069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cleaned table [LLM] labels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675120" y="2350008"/>
            <a:ext cx="4919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§5 Detection &amp; Taxonomy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2916936"/>
            <a:ext cx="1109167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2916936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6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abundance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468880" y="2916936"/>
            <a:ext cx="4069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trend_summary.llm_interpretation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675120" y="2916936"/>
            <a:ext cx="4919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§6 Abundance → AI trend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3483864"/>
            <a:ext cx="11091672" cy="566928"/>
          </a:xfrm>
          <a:prstGeom prst="rect">
            <a:avLst/>
          </a:prstGeom>
          <a:solidFill>
            <a:srgbClr val="E9F0F8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3483864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6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novel_virus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468880" y="3483864"/>
            <a:ext cx="4069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novel_candidate_summary.candidates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675120" y="3483864"/>
            <a:ext cx="4919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§7 Novel Virus Candidates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050792"/>
            <a:ext cx="1109167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4050792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6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risk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468880" y="4050792"/>
            <a:ext cx="4069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risk_summary.top_risks[].reasons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675120" y="4050792"/>
            <a:ext cx="4919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§8 Risk table [LLM] reasons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48640" y="4617720"/>
            <a:ext cx="11091672" cy="566928"/>
          </a:xfrm>
          <a:prstGeom prst="rect">
            <a:avLst/>
          </a:prstGeom>
          <a:solidFill>
            <a:srgbClr val="E9F0F8"/>
          </a:solidFill>
          <a:ln/>
        </p:spPr>
      </p:sp>
      <p:sp>
        <p:nvSpPr>
          <p:cNvPr id="34" name="Text 32"/>
          <p:cNvSpPr/>
          <p:nvPr/>
        </p:nvSpPr>
        <p:spPr>
          <a:xfrm>
            <a:off x="640080" y="461772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6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narrative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2468880" y="4617720"/>
            <a:ext cx="4069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llm_narrative.text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675120" y="4617720"/>
            <a:ext cx="4919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Interpretation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other sections (project / sample / host removal / human review / reproducibility) are deterministic — straight from the state tables.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3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97280"/>
            <a:ext cx="12191695" cy="27432"/>
          </a:xfrm>
          <a:prstGeom prst="rect">
            <a:avLst/>
          </a:prstGeom>
          <a:solidFill>
            <a:srgbClr val="DCE5E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310896"/>
            <a:ext cx="128016" cy="502920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1 · QC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502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qc — data-adequacy assessment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MetaMAVS — Project Summary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417320"/>
            <a:ext cx="640080" cy="640080"/>
          </a:xfrm>
          <a:prstGeom prst="ellipse">
            <a:avLst/>
          </a:prstGeom>
          <a:solidFill>
            <a:srgbClr val="0E9AA7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1563624"/>
            <a:ext cx="347472" cy="34747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325880" y="148132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Genome_72 run · backend Gemma 4 E2B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2286000"/>
            <a:ext cx="55321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48640" y="2286000"/>
            <a:ext cx="5532120" cy="82296"/>
          </a:xfrm>
          <a:prstGeom prst="rect">
            <a:avLst/>
          </a:prstGeom>
          <a:solidFill>
            <a:srgbClr val="13355F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2487168"/>
            <a:ext cx="457200" cy="457200"/>
          </a:xfrm>
          <a:prstGeom prst="ellipse">
            <a:avLst/>
          </a:prstGeom>
          <a:solidFill>
            <a:srgbClr val="13355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68680" y="2587752"/>
            <a:ext cx="256032" cy="25603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325880" y="24688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Analysed (input)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822960" y="3035808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 FastQC per-sample metrics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total_reads = 3,326,783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mean_quality = 34.9, read length 150 bp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qc_status = pass</a:t>
            </a:r>
            <a:endParaRPr lang="en-US" sz="1080" dirty="0"/>
          </a:p>
        </p:txBody>
      </p:sp>
      <p:sp>
        <p:nvSpPr>
          <p:cNvPr id="18" name="Shape 14"/>
          <p:cNvSpPr/>
          <p:nvPr/>
        </p:nvSpPr>
        <p:spPr>
          <a:xfrm>
            <a:off x="6172200" y="2286000"/>
            <a:ext cx="548640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172200" y="2286000"/>
            <a:ext cx="5486400" cy="82296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20" name="Shape 16"/>
          <p:cNvSpPr/>
          <p:nvPr/>
        </p:nvSpPr>
        <p:spPr>
          <a:xfrm>
            <a:off x="6391656" y="2487168"/>
            <a:ext cx="457200" cy="457200"/>
          </a:xfrm>
          <a:prstGeom prst="ellipse">
            <a:avLst/>
          </a:prstGeom>
          <a:solidFill>
            <a:srgbClr val="0E9AA7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92240" y="2587752"/>
            <a:ext cx="256032" cy="25603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949440" y="246888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Inferred (result)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6446520" y="3035808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Judged ADEQUATE for sensitive viral detection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3.3M reads → high sensitivity for low-abundance viruses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Q34.9 → low noise; no concerns flagged</a:t>
            </a:r>
            <a:endParaRPr lang="en-US" sz="1080" dirty="0"/>
          </a:p>
        </p:txBody>
      </p:sp>
      <p:sp>
        <p:nvSpPr>
          <p:cNvPr id="24" name="Shape 19"/>
          <p:cNvSpPr/>
          <p:nvPr/>
        </p:nvSpPr>
        <p:spPr>
          <a:xfrm>
            <a:off x="548640" y="4754880"/>
            <a:ext cx="11091672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548640" y="4754880"/>
            <a:ext cx="91440" cy="1371600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26" name="Text 21"/>
          <p:cNvSpPr/>
          <p:nvPr/>
        </p:nvSpPr>
        <p:spPr>
          <a:xfrm>
            <a:off x="777240" y="4864608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— an ordering fix this session: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777240" y="5212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 runs before the cluster jobs, so its LLM would only see synthetic QC. Fixed: the QC assessment now runs in the parser once REAL FastQC metrics are downloaded — so it fires on real data.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3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97280"/>
            <a:ext cx="12191695" cy="27432"/>
          </a:xfrm>
          <a:prstGeom prst="rect">
            <a:avLst/>
          </a:prstGeom>
          <a:solidFill>
            <a:srgbClr val="DCE5E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310896"/>
            <a:ext cx="128016" cy="502920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2 · TAXONOMY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502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taxonomy — classify detected taxa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MetaMAVS — Project Summary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417320"/>
            <a:ext cx="640080" cy="640080"/>
          </a:xfrm>
          <a:prstGeom prst="ellipse">
            <a:avLst/>
          </a:prstGeom>
          <a:solidFill>
            <a:srgbClr val="0E9AA7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1563624"/>
            <a:ext cx="347472" cy="34747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325880" y="148132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Genome_72 run · backend Gemma 4 E2B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2286000"/>
            <a:ext cx="55321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48640" y="2286000"/>
            <a:ext cx="5532120" cy="82296"/>
          </a:xfrm>
          <a:prstGeom prst="rect">
            <a:avLst/>
          </a:prstGeom>
          <a:solidFill>
            <a:srgbClr val="13355F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2487168"/>
            <a:ext cx="457200" cy="457200"/>
          </a:xfrm>
          <a:prstGeom prst="ellipse">
            <a:avLst/>
          </a:prstGeom>
          <a:solidFill>
            <a:srgbClr val="13355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68680" y="2587752"/>
            <a:ext cx="256032" cy="25603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325880" y="24688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Analysed (input)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822960" y="3035808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18 candidate viral taxa from GOTTCHA2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(name, taxid, reads, confidence)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+ verified NCBI Taxonomy lineage by taxid</a:t>
            </a:r>
            <a:endParaRPr lang="en-US" sz="1080" dirty="0"/>
          </a:p>
        </p:txBody>
      </p:sp>
      <p:sp>
        <p:nvSpPr>
          <p:cNvPr id="18" name="Shape 14"/>
          <p:cNvSpPr/>
          <p:nvPr/>
        </p:nvSpPr>
        <p:spPr>
          <a:xfrm>
            <a:off x="6172200" y="2286000"/>
            <a:ext cx="548640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172200" y="2286000"/>
            <a:ext cx="5486400" cy="82296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20" name="Shape 16"/>
          <p:cNvSpPr/>
          <p:nvPr/>
        </p:nvSpPr>
        <p:spPr>
          <a:xfrm>
            <a:off x="6391656" y="2487168"/>
            <a:ext cx="457200" cy="457200"/>
          </a:xfrm>
          <a:prstGeom prst="ellipse">
            <a:avLst/>
          </a:prstGeom>
          <a:solidFill>
            <a:srgbClr val="0E9AA7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92240" y="2587752"/>
            <a:ext cx="256032" cy="25603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949440" y="246888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Inferred (result)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6446520" y="3035808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 = llm+ncbi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18 taxa → 3 phage / 4 pathogen-like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 control / 11 flagged false-positive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LLM may only ADD caution, never override labels</a:t>
            </a:r>
            <a:endParaRPr lang="en-US" sz="1080" dirty="0"/>
          </a:p>
        </p:txBody>
      </p:sp>
      <p:sp>
        <p:nvSpPr>
          <p:cNvPr id="24" name="Shape 19"/>
          <p:cNvSpPr/>
          <p:nvPr/>
        </p:nvSpPr>
        <p:spPr>
          <a:xfrm>
            <a:off x="548640" y="4754880"/>
            <a:ext cx="11091672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548640" y="4754880"/>
            <a:ext cx="91440" cy="1371600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26" name="Text 21"/>
          <p:cNvSpPr/>
          <p:nvPr/>
        </p:nvSpPr>
        <p:spPr>
          <a:xfrm>
            <a:off x="777240" y="4864608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Grounded, not memory-only: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777240" y="5212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is grounded in verified NCBI Taxonomy (Division: Phages = authoritative phage) plus curated references — the LLM interprets, the lineage is the ground truth.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3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97280"/>
            <a:ext cx="12191695" cy="27432"/>
          </a:xfrm>
          <a:prstGeom prst="rect">
            <a:avLst/>
          </a:prstGeom>
          <a:solidFill>
            <a:srgbClr val="DCE5E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310896"/>
            <a:ext cx="128016" cy="502920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3 · ABUNDANCE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502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abundance — trend interpretation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MetaMAVS — Project Summary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417320"/>
            <a:ext cx="640080" cy="640080"/>
          </a:xfrm>
          <a:prstGeom prst="ellipse">
            <a:avLst/>
          </a:prstGeom>
          <a:solidFill>
            <a:srgbClr val="0E9AA7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1563624"/>
            <a:ext cx="347472" cy="34747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325880" y="148132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Genome_72 run · backend Gemma 4 E2B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2286000"/>
            <a:ext cx="55321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48640" y="2286000"/>
            <a:ext cx="5532120" cy="82296"/>
          </a:xfrm>
          <a:prstGeom prst="rect">
            <a:avLst/>
          </a:prstGeom>
          <a:solidFill>
            <a:srgbClr val="13355F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2487168"/>
            <a:ext cx="457200" cy="457200"/>
          </a:xfrm>
          <a:prstGeom prst="ellipse">
            <a:avLst/>
          </a:prstGeom>
          <a:solidFill>
            <a:srgbClr val="13355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68680" y="2587752"/>
            <a:ext cx="256032" cy="25603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325880" y="24688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Analysed (input)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822960" y="3035808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RPM abundance/trend table for 18 taxa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Top by mean RPM: Human mastadenovirus F, Obolenskvirus AP22, Phikzvirus phiKZ, PMMoV, SARS-related coronavirus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All trend = stable (single time point)</a:t>
            </a:r>
            <a:endParaRPr lang="en-US" sz="1080" dirty="0"/>
          </a:p>
        </p:txBody>
      </p:sp>
      <p:sp>
        <p:nvSpPr>
          <p:cNvPr id="18" name="Shape 14"/>
          <p:cNvSpPr/>
          <p:nvPr/>
        </p:nvSpPr>
        <p:spPr>
          <a:xfrm>
            <a:off x="6172200" y="2286000"/>
            <a:ext cx="548640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172200" y="2286000"/>
            <a:ext cx="5486400" cy="82296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20" name="Shape 16"/>
          <p:cNvSpPr/>
          <p:nvPr/>
        </p:nvSpPr>
        <p:spPr>
          <a:xfrm>
            <a:off x="6391656" y="2487168"/>
            <a:ext cx="457200" cy="457200"/>
          </a:xfrm>
          <a:prstGeom prst="ellipse">
            <a:avLst/>
          </a:prstGeom>
          <a:solidFill>
            <a:srgbClr val="0E9AA7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92240" y="2587752"/>
            <a:ext cx="256032" cy="25603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949440" y="246888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Inferred (result)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6446520" y="3035808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'Based on single-sample data, no temporal trend can be established'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stability from one point is uninformative (0.0% change)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cannot infer changes in transmission or case counts</a:t>
            </a:r>
            <a:endParaRPr lang="en-US" sz="1080" dirty="0"/>
          </a:p>
        </p:txBody>
      </p:sp>
      <p:sp>
        <p:nvSpPr>
          <p:cNvPr id="24" name="Shape 19"/>
          <p:cNvSpPr/>
          <p:nvPr/>
        </p:nvSpPr>
        <p:spPr>
          <a:xfrm>
            <a:off x="548640" y="4754880"/>
            <a:ext cx="11091672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548640" y="4754880"/>
            <a:ext cx="91440" cy="1371600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26" name="Text 21"/>
          <p:cNvSpPr/>
          <p:nvPr/>
        </p:nvSpPr>
        <p:spPr>
          <a:xfrm>
            <a:off x="777240" y="4864608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all 'stable':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777240" y="5212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time point → first == last time point → 0% change → every taxon defaults to 'stable'. It means 'trend undeterminable', not genuinely flat. Real trends need ≥2 collection dates.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3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97280"/>
            <a:ext cx="12191695" cy="27432"/>
          </a:xfrm>
          <a:prstGeom prst="rect">
            <a:avLst/>
          </a:prstGeom>
          <a:solidFill>
            <a:srgbClr val="DCE5E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310896"/>
            <a:ext cx="128016" cy="502920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0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4 · NOVEL_VIRUS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502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novel_virus — novelty assessment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MetaMAVS — Project Summary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417320"/>
            <a:ext cx="640080" cy="640080"/>
          </a:xfrm>
          <a:prstGeom prst="ellipse">
            <a:avLst/>
          </a:prstGeom>
          <a:solidFill>
            <a:srgbClr val="E08A2B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1563624"/>
            <a:ext cx="347472" cy="34747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325880" y="148132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Genome_72 run · backend Gemma 4 E2B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2286000"/>
            <a:ext cx="55321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48640" y="2286000"/>
            <a:ext cx="5532120" cy="82296"/>
          </a:xfrm>
          <a:prstGeom prst="rect">
            <a:avLst/>
          </a:prstGeom>
          <a:solidFill>
            <a:srgbClr val="13355F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2487168"/>
            <a:ext cx="457200" cy="457200"/>
          </a:xfrm>
          <a:prstGeom prst="ellipse">
            <a:avLst/>
          </a:prstGeom>
          <a:solidFill>
            <a:srgbClr val="13355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68680" y="2587752"/>
            <a:ext cx="256032" cy="25603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325880" y="24688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Analysed (input)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822960" y="3035808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29 CheckV-quality assembled contigs (High/Medium/Complete or ≥50% complete)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cross-checked against RVDB by DIAMOND blastx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best known-virus hits all &lt; 64% identity</a:t>
            </a:r>
            <a:endParaRPr lang="en-US" sz="1080" dirty="0"/>
          </a:p>
        </p:txBody>
      </p:sp>
      <p:sp>
        <p:nvSpPr>
          <p:cNvPr id="18" name="Shape 14"/>
          <p:cNvSpPr/>
          <p:nvPr/>
        </p:nvSpPr>
        <p:spPr>
          <a:xfrm>
            <a:off x="6172200" y="2286000"/>
            <a:ext cx="548640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172200" y="2286000"/>
            <a:ext cx="5486400" cy="82296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20" name="Shape 16"/>
          <p:cNvSpPr/>
          <p:nvPr/>
        </p:nvSpPr>
        <p:spPr>
          <a:xfrm>
            <a:off x="6391656" y="2487168"/>
            <a:ext cx="457200" cy="457200"/>
          </a:xfrm>
          <a:prstGeom prst="ellipse">
            <a:avLst/>
          </a:prstGeom>
          <a:solidFill>
            <a:srgbClr val="E08A2B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92240" y="2587752"/>
            <a:ext cx="256032" cy="25603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949440" y="246888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Inferred (result)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6446520" y="3035808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 = llm; 29 suspected-novel; 0 excluded as known (≥90%)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e.g. NVC_002: 100% complete, 39% identity → novel lineage / highly divergent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notes weak (zero) read support → possible assembly artefact</a:t>
            </a:r>
            <a:endParaRPr lang="en-US" sz="1080" dirty="0"/>
          </a:p>
        </p:txBody>
      </p:sp>
      <p:sp>
        <p:nvSpPr>
          <p:cNvPr id="24" name="Shape 19"/>
          <p:cNvSpPr/>
          <p:nvPr/>
        </p:nvSpPr>
        <p:spPr>
          <a:xfrm>
            <a:off x="548640" y="4754880"/>
            <a:ext cx="11091672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548640" y="4754880"/>
            <a:ext cx="91440" cy="1371600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26" name="Text 21"/>
          <p:cNvSpPr/>
          <p:nvPr/>
        </p:nvSpPr>
        <p:spPr>
          <a:xfrm>
            <a:off x="777240" y="4864608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 is now evidence-based: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777240" y="5212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CheckV completeness alone does NOT mean novel. A DIAMOND-vs-RVDB homology check labels contigs ≥90% identity as known; only no/weak-hit contigs are 'suspected novel' — here all 29 are &lt;64% identity, genuinely divergent.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3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97280"/>
            <a:ext cx="12191695" cy="27432"/>
          </a:xfrm>
          <a:prstGeom prst="rect">
            <a:avLst/>
          </a:prstGeom>
          <a:solidFill>
            <a:srgbClr val="DCE5E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310896"/>
            <a:ext cx="128016" cy="502920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5 · RISK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502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 — per-taxon epidemiological risk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MetaMAVS — Project Summary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417320"/>
            <a:ext cx="640080" cy="640080"/>
          </a:xfrm>
          <a:prstGeom prst="ellipse">
            <a:avLst/>
          </a:prstGeom>
          <a:solidFill>
            <a:srgbClr val="0E9AA7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1563624"/>
            <a:ext cx="347472" cy="34747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325880" y="148132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Genome_72 run · backend Gemma 4 E2B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2286000"/>
            <a:ext cx="55321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48640" y="2286000"/>
            <a:ext cx="5532120" cy="82296"/>
          </a:xfrm>
          <a:prstGeom prst="rect">
            <a:avLst/>
          </a:prstGeom>
          <a:solidFill>
            <a:srgbClr val="13355F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2487168"/>
            <a:ext cx="457200" cy="457200"/>
          </a:xfrm>
          <a:prstGeom prst="ellipse">
            <a:avLst/>
          </a:prstGeom>
          <a:solidFill>
            <a:srgbClr val="13355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68680" y="2587752"/>
            <a:ext cx="256032" cy="25603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325880" y="24688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Analysed (input)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822960" y="3035808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cleaned taxonomy (labels/flags)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+ abundance trend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+ configured high-risk pathogen list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+ NCBI lineage</a:t>
            </a:r>
            <a:endParaRPr lang="en-US" sz="1080" dirty="0"/>
          </a:p>
        </p:txBody>
      </p:sp>
      <p:sp>
        <p:nvSpPr>
          <p:cNvPr id="18" name="Shape 14"/>
          <p:cNvSpPr/>
          <p:nvPr/>
        </p:nvSpPr>
        <p:spPr>
          <a:xfrm>
            <a:off x="6172200" y="2286000"/>
            <a:ext cx="548640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172200" y="2286000"/>
            <a:ext cx="5486400" cy="82296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20" name="Shape 16"/>
          <p:cNvSpPr/>
          <p:nvPr/>
        </p:nvSpPr>
        <p:spPr>
          <a:xfrm>
            <a:off x="6391656" y="2487168"/>
            <a:ext cx="457200" cy="457200"/>
          </a:xfrm>
          <a:prstGeom prst="ellipse">
            <a:avLst/>
          </a:prstGeom>
          <a:solidFill>
            <a:srgbClr val="0E9AA7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92240" y="2587752"/>
            <a:ext cx="256032" cy="25603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949440" y="246888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Inferred (result)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6446520" y="3035808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 = llm; overall = High (Low 13 / Med 31 / High 2)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SARS-related coronavirus (37 reads) → High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Norwalk virus (24 reads) → High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[LLM] reasoning appended per taxon</a:t>
            </a:r>
            <a:endParaRPr lang="en-US" sz="1080" dirty="0"/>
          </a:p>
        </p:txBody>
      </p:sp>
      <p:sp>
        <p:nvSpPr>
          <p:cNvPr id="24" name="Shape 19"/>
          <p:cNvSpPr/>
          <p:nvPr/>
        </p:nvSpPr>
        <p:spPr>
          <a:xfrm>
            <a:off x="548640" y="4754880"/>
            <a:ext cx="11091672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548640" y="4754880"/>
            <a:ext cx="91440" cy="1371600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26" name="Text 21"/>
          <p:cNvSpPr/>
          <p:nvPr/>
        </p:nvSpPr>
        <p:spPr>
          <a:xfrm>
            <a:off x="777240" y="4864608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safety rails: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777240" y="5212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may only raise caution — phages/false-positives pinned Low, configured high-risk pathogens floored at High; PMMoV/crAssphage treated as normalization controls, not threats.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3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97280"/>
            <a:ext cx="12191695" cy="27432"/>
          </a:xfrm>
          <a:prstGeom prst="rect">
            <a:avLst/>
          </a:prstGeom>
          <a:solidFill>
            <a:srgbClr val="DCE5E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310896"/>
            <a:ext cx="128016" cy="502920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0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6 · NARRATIVE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502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narrative — surveillance narrative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MetaMAVS — Project Summary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417320"/>
            <a:ext cx="640080" cy="640080"/>
          </a:xfrm>
          <a:prstGeom prst="ellipse">
            <a:avLst/>
          </a:prstGeom>
          <a:solidFill>
            <a:srgbClr val="E08A2B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1563624"/>
            <a:ext cx="347472" cy="34747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325880" y="148132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Genome_72 run · backend Gemma 4 E2B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2286000"/>
            <a:ext cx="55321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48640" y="2286000"/>
            <a:ext cx="5532120" cy="82296"/>
          </a:xfrm>
          <a:prstGeom prst="rect">
            <a:avLst/>
          </a:prstGeom>
          <a:solidFill>
            <a:srgbClr val="13355F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2487168"/>
            <a:ext cx="457200" cy="457200"/>
          </a:xfrm>
          <a:prstGeom prst="ellipse">
            <a:avLst/>
          </a:prstGeom>
          <a:solidFill>
            <a:srgbClr val="13355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68680" y="2587752"/>
            <a:ext cx="256032" cy="25603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325880" y="24688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Analysed (input)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822960" y="3035808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whole run's structured summaries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(risk, taxonomy, abundance, novel, sample metadata)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rendered to JSON — not the raw files</a:t>
            </a:r>
            <a:endParaRPr lang="en-US" sz="1080" dirty="0"/>
          </a:p>
        </p:txBody>
      </p:sp>
      <p:sp>
        <p:nvSpPr>
          <p:cNvPr id="18" name="Shape 14"/>
          <p:cNvSpPr/>
          <p:nvPr/>
        </p:nvSpPr>
        <p:spPr>
          <a:xfrm>
            <a:off x="6172200" y="2286000"/>
            <a:ext cx="548640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172200" y="2286000"/>
            <a:ext cx="5486400" cy="82296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20" name="Shape 16"/>
          <p:cNvSpPr/>
          <p:nvPr/>
        </p:nvSpPr>
        <p:spPr>
          <a:xfrm>
            <a:off x="6391656" y="2487168"/>
            <a:ext cx="457200" cy="457200"/>
          </a:xfrm>
          <a:prstGeom prst="ellipse">
            <a:avLst/>
          </a:prstGeom>
          <a:solidFill>
            <a:srgbClr val="E08A2B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92240" y="2587752"/>
            <a:ext cx="256032" cy="25603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949440" y="246888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Inferred (result)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6446520" y="3035808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model gemma-4-E2B-it, status ok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cautious Markdown: 'detected sequence signals … SARS-related coronavirus and Norwalk virus … warranting …'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Exec summary / Risk / Actions / Caveats</a:t>
            </a:r>
            <a:endParaRPr lang="en-US" sz="1080" dirty="0"/>
          </a:p>
        </p:txBody>
      </p:sp>
      <p:sp>
        <p:nvSpPr>
          <p:cNvPr id="24" name="Shape 19"/>
          <p:cNvSpPr/>
          <p:nvPr/>
        </p:nvSpPr>
        <p:spPr>
          <a:xfrm>
            <a:off x="548640" y="4754880"/>
            <a:ext cx="11091672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548640" y="4754880"/>
            <a:ext cx="91440" cy="1371600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26" name="Text 21"/>
          <p:cNvSpPr/>
          <p:nvPr/>
        </p:nvSpPr>
        <p:spPr>
          <a:xfrm>
            <a:off x="777240" y="4864608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last, after approval: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777240" y="5212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narrative fires only after human-review approval, then report_writer embeds it as the report's ## AI-Assisted Interpretation section. It's the 6th and final agent.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1E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A36B"/>
          </a:solidFill>
          <a:ln/>
        </p:spPr>
      </p:sp>
      <p:sp>
        <p:nvSpPr>
          <p:cNvPr id="3" name="Text 1"/>
          <p:cNvSpPr/>
          <p:nvPr/>
        </p:nvSpPr>
        <p:spPr>
          <a:xfrm>
            <a:off x="7589520" y="640080"/>
            <a:ext cx="45720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3000" b="1" dirty="0">
                <a:solidFill>
                  <a:srgbClr val="1229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3000" dirty="0"/>
          </a:p>
        </p:txBody>
      </p:sp>
      <p:sp>
        <p:nvSpPr>
          <p:cNvPr id="4" name="Text 2"/>
          <p:cNvSpPr/>
          <p:nvPr/>
        </p:nvSpPr>
        <p:spPr>
          <a:xfrm>
            <a:off x="914400" y="2514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2FA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BACKEND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92608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→ local Gemma 4 E2B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914400" y="39776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switch · three migration fixes · verified · quality comparison · tiered policy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3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97280"/>
            <a:ext cx="12191695" cy="27432"/>
          </a:xfrm>
          <a:prstGeom prst="rect">
            <a:avLst/>
          </a:prstGeom>
          <a:solidFill>
            <a:srgbClr val="DCE5E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310896"/>
            <a:ext cx="128016" cy="502920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502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switch, zero agent-logic changes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MetaMAVS — Project Summary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22960" y="1508760"/>
            <a:ext cx="3485286" cy="603504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508760"/>
            <a:ext cx="339384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(Anthropic SDK)</a:t>
            </a:r>
            <a:endParaRPr lang="en-US" sz="9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claude-opus-4-8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308246" y="1508760"/>
            <a:ext cx="182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436262" y="1508760"/>
            <a:ext cx="2831795" cy="603504"/>
          </a:xfrm>
          <a:prstGeom prst="rect">
            <a:avLst/>
          </a:prstGeom>
          <a:solidFill>
            <a:srgbClr val="13355F"/>
          </a:solidFill>
          <a:ln/>
        </p:spPr>
      </p:sp>
      <p:sp>
        <p:nvSpPr>
          <p:cNvPr id="13" name="Text 11"/>
          <p:cNvSpPr/>
          <p:nvPr/>
        </p:nvSpPr>
        <p:spPr>
          <a:xfrm>
            <a:off x="4481982" y="1508760"/>
            <a:ext cx="27403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LLM_BACKEND switch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268058" y="1508760"/>
            <a:ext cx="182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96074" y="1508760"/>
            <a:ext cx="3485286" cy="603504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16" name="Text 14"/>
          <p:cNvSpPr/>
          <p:nvPr/>
        </p:nvSpPr>
        <p:spPr>
          <a:xfrm>
            <a:off x="7441794" y="1508760"/>
            <a:ext cx="339384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Gemma 4 E2B</a:t>
            </a:r>
            <a:endParaRPr lang="en-US" sz="9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llama-server (free)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2331720"/>
            <a:ext cx="553212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2331720"/>
            <a:ext cx="5532120" cy="82296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19" name="Shape 17"/>
          <p:cNvSpPr/>
          <p:nvPr/>
        </p:nvSpPr>
        <p:spPr>
          <a:xfrm>
            <a:off x="768096" y="2532888"/>
            <a:ext cx="457200" cy="457200"/>
          </a:xfrm>
          <a:prstGeom prst="ellipse">
            <a:avLst/>
          </a:prstGeom>
          <a:solidFill>
            <a:srgbClr val="0E9AA7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2633472"/>
            <a:ext cx="256032" cy="256032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325880" y="25146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so small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822960" y="3081528"/>
            <a:ext cx="4983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LLM calls were already centralized in one module (llm/client.py)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Just add a backend branch there behind LLM_BACKEND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All 6 agents keep the same generate()/generate_json() interface — zero logic change</a:t>
            </a:r>
            <a:endParaRPr lang="en-US" sz="1080" dirty="0"/>
          </a:p>
        </p:txBody>
      </p:sp>
      <p:sp>
        <p:nvSpPr>
          <p:cNvPr id="23" name="Shape 20"/>
          <p:cNvSpPr/>
          <p:nvPr/>
        </p:nvSpPr>
        <p:spPr>
          <a:xfrm>
            <a:off x="6172200" y="2331720"/>
            <a:ext cx="548640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172200" y="2331720"/>
            <a:ext cx="5486400" cy="82296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25" name="Shape 22"/>
          <p:cNvSpPr/>
          <p:nvPr/>
        </p:nvSpPr>
        <p:spPr>
          <a:xfrm>
            <a:off x="6391656" y="2532888"/>
            <a:ext cx="457200" cy="457200"/>
          </a:xfrm>
          <a:prstGeom prst="ellipse">
            <a:avLst/>
          </a:prstGeom>
          <a:solidFill>
            <a:srgbClr val="E08A2B"/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92240" y="2633472"/>
            <a:ext cx="256032" cy="25603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6949440" y="251460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Pluggable &amp; reversible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6446520" y="3081528"/>
            <a:ext cx="4937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Default 'gemma' (local, free, private)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'claude' for external/high-risk reports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Zero-code switch; fully reversible</a:t>
            </a:r>
            <a:endParaRPr lang="en-US" sz="1080" dirty="0"/>
          </a:p>
        </p:txBody>
      </p:sp>
      <p:sp>
        <p:nvSpPr>
          <p:cNvPr id="29" name="Shape 25"/>
          <p:cNvSpPr/>
          <p:nvPr/>
        </p:nvSpPr>
        <p:spPr>
          <a:xfrm>
            <a:off x="548640" y="4572000"/>
            <a:ext cx="1110996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548640" y="4572000"/>
            <a:ext cx="11109960" cy="82296"/>
          </a:xfrm>
          <a:prstGeom prst="rect">
            <a:avLst/>
          </a:prstGeom>
          <a:solidFill>
            <a:srgbClr val="2FA36B"/>
          </a:solidFill>
          <a:ln/>
        </p:spPr>
      </p:sp>
      <p:sp>
        <p:nvSpPr>
          <p:cNvPr id="31" name="Shape 27"/>
          <p:cNvSpPr/>
          <p:nvPr/>
        </p:nvSpPr>
        <p:spPr>
          <a:xfrm>
            <a:off x="768096" y="4773168"/>
            <a:ext cx="457200" cy="457200"/>
          </a:xfrm>
          <a:prstGeom prst="ellipse">
            <a:avLst/>
          </a:prstGeom>
          <a:solidFill>
            <a:srgbClr val="2FA36B"/>
          </a:solidFill>
          <a:ln/>
        </p:spPr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68680" y="4873752"/>
            <a:ext cx="256032" cy="256032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1325880" y="475488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400" dirty="0"/>
          </a:p>
        </p:txBody>
      </p:sp>
      <p:sp>
        <p:nvSpPr>
          <p:cNvPr id="34" name="Text 29"/>
          <p:cNvSpPr/>
          <p:nvPr/>
        </p:nvSpPr>
        <p:spPr>
          <a:xfrm>
            <a:off x="822960" y="5321808"/>
            <a:ext cx="10561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Local, key-free default backend; the deterministic pipeline and all six agents run unchanged — the only change is where inference happens</a:t>
            </a:r>
            <a:endParaRPr lang="en-US" sz="108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3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97280"/>
            <a:ext cx="12191695" cy="27432"/>
          </a:xfrm>
          <a:prstGeom prst="rect">
            <a:avLst/>
          </a:prstGeom>
          <a:solidFill>
            <a:srgbClr val="DCE5E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310896"/>
            <a:ext cx="128016" cy="502920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0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FIXES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502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Issues found &amp; fixed during migration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MetaMAVS — Project Summary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417320"/>
            <a:ext cx="11091672" cy="93268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1417320"/>
            <a:ext cx="91440" cy="932688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655064"/>
            <a:ext cx="457200" cy="457200"/>
          </a:xfrm>
          <a:prstGeom prst="ellipse">
            <a:avLst/>
          </a:prstGeom>
          <a:solidFill>
            <a:srgbClr val="0E9AA7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7824" y="1755648"/>
            <a:ext cx="256032" cy="25603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371600" y="1545336"/>
            <a:ext cx="3383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Reasoning-model token floor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846320" y="1545336"/>
            <a:ext cx="6583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spends tokens on hidden reasoning; too few → empty content. Enforce a 2048 floor.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2468880"/>
            <a:ext cx="11091672" cy="93268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48640" y="2468880"/>
            <a:ext cx="91440" cy="932688"/>
          </a:xfrm>
          <a:prstGeom prst="rect">
            <a:avLst/>
          </a:prstGeom>
          <a:solidFill>
            <a:srgbClr val="13355F"/>
          </a:solidFill>
          <a:ln/>
        </p:spPr>
      </p:sp>
      <p:sp>
        <p:nvSpPr>
          <p:cNvPr id="17" name="Shape 14"/>
          <p:cNvSpPr/>
          <p:nvPr/>
        </p:nvSpPr>
        <p:spPr>
          <a:xfrm>
            <a:off x="777240" y="2706624"/>
            <a:ext cx="457200" cy="457200"/>
          </a:xfrm>
          <a:prstGeom prst="ellipse">
            <a:avLst/>
          </a:prstGeom>
          <a:solidFill>
            <a:srgbClr val="13355F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77824" y="2807208"/>
            <a:ext cx="256032" cy="25603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371600" y="2596896"/>
            <a:ext cx="3383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Cache-breakpoint folding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4846320" y="2596896"/>
            <a:ext cx="6583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API has no cache_control → fold the shared reference into system; server prefix-caches it.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48640" y="3520440"/>
            <a:ext cx="11091672" cy="93268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48640" y="3520440"/>
            <a:ext cx="91440" cy="932688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23" name="Shape 19"/>
          <p:cNvSpPr/>
          <p:nvPr/>
        </p:nvSpPr>
        <p:spPr>
          <a:xfrm>
            <a:off x="777240" y="3758184"/>
            <a:ext cx="457200" cy="457200"/>
          </a:xfrm>
          <a:prstGeom prst="ellipse">
            <a:avLst/>
          </a:prstGeom>
          <a:solidFill>
            <a:srgbClr val="E08A2B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77824" y="3858768"/>
            <a:ext cx="256032" cy="25603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371600" y="3648456"/>
            <a:ext cx="3383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Model-attribution fix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4846320" y="3648456"/>
            <a:ext cx="6583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active_model() makes reports cite the real model (gemma-4-E2B-it), not the configured claude.</a:t>
            </a:r>
            <a:endParaRPr lang="en-US" sz="1100" dirty="0"/>
          </a:p>
        </p:txBody>
      </p:sp>
      <p:sp>
        <p:nvSpPr>
          <p:cNvPr id="27" name="Text 22"/>
          <p:cNvSpPr/>
          <p:nvPr/>
        </p:nvSpPr>
        <p:spPr>
          <a:xfrm>
            <a:off x="548640" y="47091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3 more this session for the full HPC run: FastQC output path, checkv_contigs state channel, novel_virus LLM token cap — all fixed, tested, and pushed.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3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97280"/>
            <a:ext cx="12191695" cy="27432"/>
          </a:xfrm>
          <a:prstGeom prst="rect">
            <a:avLst/>
          </a:prstGeom>
          <a:solidFill>
            <a:srgbClr val="DCE5E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310896"/>
            <a:ext cx="128016" cy="502920"/>
          </a:xfrm>
          <a:prstGeom prst="rect">
            <a:avLst/>
          </a:prstGeom>
          <a:solidFill>
            <a:srgbClr val="13355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33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502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Gemma vs Claude — same real data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MetaMAVS — Project Summary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14173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pPr indent="0" marL="0">
              <a:buNone/>
            </a:pPr>
            <a:r>
              <a:rPr lang="en-US" sz="1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</a:t>
            </a:r>
            <a:pPr indent="0" marL="0">
              <a:buNone/>
            </a:pPr>
            <a:r>
              <a:rPr lang="en-US" sz="1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0" dirty="0"/>
          </a:p>
        </p:txBody>
      </p:sp>
      <p:sp>
        <p:nvSpPr>
          <p:cNvPr id="10" name="Text 8"/>
          <p:cNvSpPr/>
          <p:nvPr/>
        </p:nvSpPr>
        <p:spPr>
          <a:xfrm>
            <a:off x="640080" y="141732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566160" y="14173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943600" y="14173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1783080"/>
            <a:ext cx="768096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178308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verdict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66160" y="178308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0" y="178308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2350008"/>
            <a:ext cx="7680960" cy="566928"/>
          </a:xfrm>
          <a:prstGeom prst="rect">
            <a:avLst/>
          </a:prstGeom>
          <a:solidFill>
            <a:srgbClr val="E9F0F8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350008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detections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566160" y="2350008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SARS-CoV / Norwalk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0" y="2350008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SARS-CoV / Norwalk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2916936"/>
            <a:ext cx="768096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2916936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 caution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566160" y="2916936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meets bar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0" y="2916936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meets bar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3483864"/>
            <a:ext cx="7680960" cy="566928"/>
          </a:xfrm>
          <a:prstGeom prst="rect">
            <a:avLst/>
          </a:prstGeom>
          <a:solidFill>
            <a:srgbClr val="E9F0F8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3483864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length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566160" y="348386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1119 words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0" y="348386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1218 words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050792"/>
            <a:ext cx="768096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4050792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566160" y="40507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gemma-4-E2B-it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943600" y="40507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claude-opus-4-8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412480" y="1417320"/>
            <a:ext cx="324612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412480" y="1417320"/>
            <a:ext cx="3246120" cy="82296"/>
          </a:xfrm>
          <a:prstGeom prst="rect">
            <a:avLst/>
          </a:prstGeom>
          <a:solidFill>
            <a:srgbClr val="2FA36B"/>
          </a:solidFill>
          <a:ln/>
        </p:spPr>
      </p:sp>
      <p:sp>
        <p:nvSpPr>
          <p:cNvPr id="35" name="Shape 33"/>
          <p:cNvSpPr/>
          <p:nvPr/>
        </p:nvSpPr>
        <p:spPr>
          <a:xfrm>
            <a:off x="8631936" y="1618488"/>
            <a:ext cx="457200" cy="457200"/>
          </a:xfrm>
          <a:prstGeom prst="ellipse">
            <a:avLst/>
          </a:prstGeom>
          <a:solidFill>
            <a:srgbClr val="2FA36B"/>
          </a:solidFill>
          <a:ln/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32520" y="1719072"/>
            <a:ext cx="256032" cy="256032"/>
          </a:xfrm>
          <a:prstGeom prst="rect">
            <a:avLst/>
          </a:prstGeom>
        </p:spPr>
      </p:pic>
      <p:sp>
        <p:nvSpPr>
          <p:cNvPr id="37" name="Text 34"/>
          <p:cNvSpPr/>
          <p:nvPr/>
        </p:nvSpPr>
        <p:spPr>
          <a:xfrm>
            <a:off x="9189720" y="1600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data, same verdict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8686800" y="2167128"/>
            <a:ext cx="26974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Both return High; both trigger human review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Both cautious &amp; confirmation-first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gap is quality, not correctness</a:t>
            </a:r>
            <a:endParaRPr lang="en-US" sz="108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3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97280"/>
            <a:ext cx="12191695" cy="27432"/>
          </a:xfrm>
          <a:prstGeom prst="rect">
            <a:avLst/>
          </a:prstGeom>
          <a:solidFill>
            <a:srgbClr val="DCE5E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310896"/>
            <a:ext cx="128016" cy="502920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0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502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each model stands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MetaMAVS — Project Summary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417320"/>
            <a:ext cx="6675120" cy="4754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1417320"/>
            <a:ext cx="6675120" cy="82296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11" name="Shape 9"/>
          <p:cNvSpPr/>
          <p:nvPr/>
        </p:nvSpPr>
        <p:spPr>
          <a:xfrm>
            <a:off x="768096" y="1618488"/>
            <a:ext cx="457200" cy="457200"/>
          </a:xfrm>
          <a:prstGeom prst="ellipse">
            <a:avLst/>
          </a:prstGeom>
          <a:solidFill>
            <a:srgbClr val="E08A2B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719072"/>
            <a:ext cx="256032" cy="25603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325880" y="1600200"/>
            <a:ext cx="5715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— stronger on 4 points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22960" y="2167128"/>
            <a:ext cx="612648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Data grounding — cites real context (single sample, site, date, tool)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Single-time-point honesty — flags 'stable' as uninformative from one point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Methodological caveats — subtype from short reads; single-classifier coverage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Recommendation precision — amplicon/targeted-capture; parks Medium as routine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7406640" y="1417320"/>
            <a:ext cx="4233672" cy="4754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406640" y="1417320"/>
            <a:ext cx="4233672" cy="82296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17" name="Shape 14"/>
          <p:cNvSpPr/>
          <p:nvPr/>
        </p:nvSpPr>
        <p:spPr>
          <a:xfrm>
            <a:off x="7626096" y="1618488"/>
            <a:ext cx="457200" cy="457200"/>
          </a:xfrm>
          <a:prstGeom prst="ellipse">
            <a:avLst/>
          </a:prstGeom>
          <a:solidFill>
            <a:srgbClr val="0E9AA7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726680" y="1719072"/>
            <a:ext cx="256032" cy="25603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183880" y="1600200"/>
            <a:ext cx="3273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— meets the bar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7680960" y="2167128"/>
            <a:ext cx="3685032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Correct verdict — identical High detections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Cautious language — signals not infections; phages separate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Clear structure — tiers + prioritised actions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Routine · local · free · fully adequate</a:t>
            </a:r>
            <a:endParaRPr lang="en-US" sz="108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3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97280"/>
            <a:ext cx="12191695" cy="27432"/>
          </a:xfrm>
          <a:prstGeom prst="rect">
            <a:avLst/>
          </a:prstGeom>
          <a:solidFill>
            <a:srgbClr val="DCE5E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310896"/>
            <a:ext cx="128016" cy="502920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502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Tiered use — zero-code switch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MetaMAVS — Project Summary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554480"/>
            <a:ext cx="55321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1554480"/>
            <a:ext cx="5532120" cy="82296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11" name="Shape 9"/>
          <p:cNvSpPr/>
          <p:nvPr/>
        </p:nvSpPr>
        <p:spPr>
          <a:xfrm>
            <a:off x="768096" y="1755648"/>
            <a:ext cx="457200" cy="457200"/>
          </a:xfrm>
          <a:prstGeom prst="ellipse">
            <a:avLst/>
          </a:prstGeom>
          <a:solidFill>
            <a:srgbClr val="0E9AA7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856232"/>
            <a:ext cx="256032" cy="25603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325880" y="173736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Default: Gemma (local)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22960" y="2304288"/>
            <a:ext cx="49834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LLM_BACKEND=gemma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Routine / batch / standard surveillance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Fast, free, local &amp; private, no network dependency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Reliable verdict, scientifically cautious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6172200" y="1554480"/>
            <a:ext cx="548640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172200" y="1554480"/>
            <a:ext cx="5486400" cy="82296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17" name="Shape 14"/>
          <p:cNvSpPr/>
          <p:nvPr/>
        </p:nvSpPr>
        <p:spPr>
          <a:xfrm>
            <a:off x="6391656" y="1755648"/>
            <a:ext cx="457200" cy="457200"/>
          </a:xfrm>
          <a:prstGeom prst="ellipse">
            <a:avLst/>
          </a:prstGeom>
          <a:solidFill>
            <a:srgbClr val="E08A2B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92240" y="1856232"/>
            <a:ext cx="256032" cy="25603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949440" y="173736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Claude for key cases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6446520" y="2304288"/>
            <a:ext cx="49377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LLM_BACKEND=claude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External reports, high-risk events, formal release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When rigorous epi wording &amp; confirmatory advice matter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Stronger nuance &amp; data grounding</a:t>
            </a:r>
            <a:endParaRPr lang="en-US" sz="1080" dirty="0"/>
          </a:p>
        </p:txBody>
      </p:sp>
      <p:sp>
        <p:nvSpPr>
          <p:cNvPr id="21" name="Shape 17"/>
          <p:cNvSpPr/>
          <p:nvPr/>
        </p:nvSpPr>
        <p:spPr>
          <a:xfrm>
            <a:off x="548640" y="5074920"/>
            <a:ext cx="11091672" cy="868680"/>
          </a:xfrm>
          <a:prstGeom prst="rect">
            <a:avLst/>
          </a:prstGeom>
          <a:solidFill>
            <a:srgbClr val="0B1E39"/>
          </a:solidFill>
          <a:ln/>
        </p:spPr>
      </p:sp>
      <p:sp>
        <p:nvSpPr>
          <p:cNvPr id="22" name="Shape 18"/>
          <p:cNvSpPr/>
          <p:nvPr/>
        </p:nvSpPr>
        <p:spPr>
          <a:xfrm>
            <a:off x="548640" y="5074920"/>
            <a:ext cx="91440" cy="868680"/>
          </a:xfrm>
          <a:prstGeom prst="rect">
            <a:avLst/>
          </a:prstGeom>
          <a:solidFill>
            <a:srgbClr val="2FA36B"/>
          </a:solidFill>
          <a:ln/>
        </p:spPr>
      </p:sp>
      <p:sp>
        <p:nvSpPr>
          <p:cNvPr id="23" name="Text 19"/>
          <p:cNvSpPr/>
          <p:nvPr/>
        </p:nvSpPr>
        <p:spPr>
          <a:xfrm>
            <a:off x="868680" y="507492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verified: </a:t>
            </a:r>
            <a:pPr indent="0" marL="0">
              <a:buNone/>
            </a:pPr>
            <a:r>
              <a:rPr lang="en-US" sz="125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125+ tests pass; end-to-end run under gemma completes with 0 errors; both backends switch correctly.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1E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3" name="Text 1"/>
          <p:cNvSpPr/>
          <p:nvPr/>
        </p:nvSpPr>
        <p:spPr>
          <a:xfrm>
            <a:off x="7589520" y="640080"/>
            <a:ext cx="45720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3000" b="1" dirty="0">
                <a:solidFill>
                  <a:srgbClr val="1229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3000" dirty="0"/>
          </a:p>
        </p:txBody>
      </p:sp>
      <p:sp>
        <p:nvSpPr>
          <p:cNvPr id="4" name="Text 2"/>
          <p:cNvSpPr/>
          <p:nvPr/>
        </p:nvSpPr>
        <p:spPr>
          <a:xfrm>
            <a:off x="914400" y="2514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HPC &amp; DEPLOYMENT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92608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Sapelo2 execution · production plan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914400" y="39776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run · 5 fetched files · 3-layer architecture · budget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3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97280"/>
            <a:ext cx="12191695" cy="27432"/>
          </a:xfrm>
          <a:prstGeom prst="rect">
            <a:avLst/>
          </a:prstGeom>
          <a:solidFill>
            <a:srgbClr val="DCE5E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310896"/>
            <a:ext cx="128016" cy="502920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HPC RUN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502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End-to-end run on UGA Sapelo2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MetaMAVS — Project Summary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1371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controller runs LOCALLY; it reaches the cluster only for the heavy bioinformatics step.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1828800"/>
            <a:ext cx="1648206" cy="603504"/>
          </a:xfrm>
          <a:prstGeom prst="rect">
            <a:avLst/>
          </a:prstGeom>
          <a:solidFill>
            <a:srgbClr val="13355F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828800"/>
            <a:ext cx="155676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remote-check (Duo)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8286" y="1828800"/>
            <a:ext cx="182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16302" y="1828800"/>
            <a:ext cx="1648206" cy="603504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14" name="Text 12"/>
          <p:cNvSpPr/>
          <p:nvPr/>
        </p:nvSpPr>
        <p:spPr>
          <a:xfrm>
            <a:off x="2462022" y="1828800"/>
            <a:ext cx="155676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--execute</a:t>
            </a:r>
            <a:endParaRPr lang="en-US" sz="9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+ poll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064508" y="1828800"/>
            <a:ext cx="182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92524" y="1828800"/>
            <a:ext cx="1295019" cy="603504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17" name="Text 15"/>
          <p:cNvSpPr/>
          <p:nvPr/>
        </p:nvSpPr>
        <p:spPr>
          <a:xfrm>
            <a:off x="4238244" y="1828800"/>
            <a:ext cx="120357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rsync results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7543" y="1828800"/>
            <a:ext cx="182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15559" y="1828800"/>
            <a:ext cx="1412748" cy="603504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20" name="Text 18"/>
          <p:cNvSpPr/>
          <p:nvPr/>
        </p:nvSpPr>
        <p:spPr>
          <a:xfrm>
            <a:off x="5661279" y="1828800"/>
            <a:ext cx="13213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→ agents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028307" y="1828800"/>
            <a:ext cx="182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156323" y="1828800"/>
            <a:ext cx="1530477" cy="603504"/>
          </a:xfrm>
          <a:prstGeom prst="rect">
            <a:avLst/>
          </a:prstGeom>
          <a:solidFill>
            <a:srgbClr val="13355F"/>
          </a:solidFill>
          <a:ln/>
        </p:spPr>
      </p:sp>
      <p:sp>
        <p:nvSpPr>
          <p:cNvPr id="23" name="Text 21"/>
          <p:cNvSpPr/>
          <p:nvPr/>
        </p:nvSpPr>
        <p:spPr>
          <a:xfrm>
            <a:off x="7202043" y="1828800"/>
            <a:ext cx="143903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pause: human review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686800" y="1828800"/>
            <a:ext cx="182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814816" y="1828800"/>
            <a:ext cx="1883664" cy="603504"/>
          </a:xfrm>
          <a:prstGeom prst="rect">
            <a:avLst/>
          </a:prstGeom>
          <a:solidFill>
            <a:srgbClr val="2FA36B"/>
          </a:solidFill>
          <a:ln/>
        </p:spPr>
      </p:sp>
      <p:sp>
        <p:nvSpPr>
          <p:cNvPr id="26" name="Text 24"/>
          <p:cNvSpPr/>
          <p:nvPr/>
        </p:nvSpPr>
        <p:spPr>
          <a:xfrm>
            <a:off x="8860536" y="1828800"/>
            <a:ext cx="17922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--approve → report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48640" y="2743200"/>
            <a:ext cx="553212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8640" y="2743200"/>
            <a:ext cx="5532120" cy="82296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29" name="Shape 27"/>
          <p:cNvSpPr/>
          <p:nvPr/>
        </p:nvSpPr>
        <p:spPr>
          <a:xfrm>
            <a:off x="768096" y="2944368"/>
            <a:ext cx="457200" cy="457200"/>
          </a:xfrm>
          <a:prstGeom prst="ellipse">
            <a:avLst/>
          </a:prstGeom>
          <a:solidFill>
            <a:srgbClr val="0E9AA7"/>
          </a:solidFill>
          <a:ln/>
        </p:spPr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3044952"/>
            <a:ext cx="256032" cy="256032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1325880" y="29260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side (Sapelo2)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22960" y="3493008"/>
            <a:ext cx="49834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Slurm jobs: FastQC · GOTTCHA2 · MEGAHIT+CheckV · DIAMOND-vs-RVDB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Per-step conda envs via PATH (no conda init)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Only declared output_files are sent back</a:t>
            </a:r>
            <a:endParaRPr lang="en-US" sz="1080" dirty="0"/>
          </a:p>
        </p:txBody>
      </p:sp>
      <p:sp>
        <p:nvSpPr>
          <p:cNvPr id="33" name="Shape 30"/>
          <p:cNvSpPr/>
          <p:nvPr/>
        </p:nvSpPr>
        <p:spPr>
          <a:xfrm>
            <a:off x="6172200" y="2743200"/>
            <a:ext cx="548640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172200" y="2743200"/>
            <a:ext cx="5486400" cy="82296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35" name="Shape 32"/>
          <p:cNvSpPr/>
          <p:nvPr/>
        </p:nvSpPr>
        <p:spPr>
          <a:xfrm>
            <a:off x="6391656" y="2944368"/>
            <a:ext cx="457200" cy="457200"/>
          </a:xfrm>
          <a:prstGeom prst="ellipse">
            <a:avLst/>
          </a:prstGeom>
          <a:solidFill>
            <a:srgbClr val="E08A2B"/>
          </a:solidFill>
          <a:ln/>
        </p:spPr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92240" y="3044952"/>
            <a:ext cx="256032" cy="256032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6949440" y="292608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side (local)</a:t>
            </a:r>
            <a:endParaRPr lang="en-US" sz="1400" dirty="0"/>
          </a:p>
        </p:txBody>
      </p:sp>
      <p:sp>
        <p:nvSpPr>
          <p:cNvPr id="38" name="Text 34"/>
          <p:cNvSpPr/>
          <p:nvPr/>
        </p:nvSpPr>
        <p:spPr>
          <a:xfrm>
            <a:off x="6446520" y="3493008"/>
            <a:ext cx="49377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Submits over SSH (ControlMaster reuses one Duo auth)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rsync -avz --checksum fetches results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Parses → runs taxonomy/abundance/novel/risk/narrative → report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Pauses at review; resumes on approval</a:t>
            </a:r>
            <a:endParaRPr lang="en-US" sz="108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3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97280"/>
            <a:ext cx="12191695" cy="27432"/>
          </a:xfrm>
          <a:prstGeom prst="rect">
            <a:avLst/>
          </a:prstGeom>
          <a:solidFill>
            <a:srgbClr val="DCE5E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310896"/>
            <a:ext cx="128016" cy="502920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0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FETCHED FILES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502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files fetched (single sample Genome_72)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MetaMAVS — Project Summary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417320"/>
            <a:ext cx="11091672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1417320"/>
            <a:ext cx="91440" cy="731520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563624"/>
            <a:ext cx="438912" cy="438912"/>
          </a:xfrm>
          <a:prstGeom prst="ellipse">
            <a:avLst/>
          </a:prstGeom>
          <a:solidFill>
            <a:srgbClr val="0E9AA7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7824" y="1655064"/>
            <a:ext cx="237744" cy="23774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325880" y="149047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Genome_72.fastqc_data.txt</a:t>
            </a:r>
            <a:pPr indent="0" marL="0">
              <a:buNone/>
            </a:pPr>
            <a:r>
              <a:rPr lang="en-US" sz="1050" b="1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16 KB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1325880" y="18013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 · FastQC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480560" y="1746504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 metrics → qc agent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48640" y="2258568"/>
            <a:ext cx="11091672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2258568"/>
            <a:ext cx="91440" cy="731520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18" name="Shape 15"/>
          <p:cNvSpPr/>
          <p:nvPr/>
        </p:nvSpPr>
        <p:spPr>
          <a:xfrm>
            <a:off x="777240" y="2404872"/>
            <a:ext cx="438912" cy="438912"/>
          </a:xfrm>
          <a:prstGeom prst="ellipse">
            <a:avLst/>
          </a:prstGeom>
          <a:solidFill>
            <a:srgbClr val="0E9AA7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77824" y="2496312"/>
            <a:ext cx="237744" cy="237744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1325880" y="233172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Genome_72.gottcha2.tsv</a:t>
            </a:r>
            <a:pPr indent="0" marL="0">
              <a:buNone/>
            </a:pPr>
            <a:r>
              <a:rPr lang="en-US" sz="1050" b="1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19 KB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1325880" y="264261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gottcha2 · GOTTCHA2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4480560" y="2587752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hits → main chain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48640" y="3099816"/>
            <a:ext cx="11091672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548640" y="3099816"/>
            <a:ext cx="91440" cy="731520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25" name="Shape 21"/>
          <p:cNvSpPr/>
          <p:nvPr/>
        </p:nvSpPr>
        <p:spPr>
          <a:xfrm>
            <a:off x="777240" y="3246120"/>
            <a:ext cx="438912" cy="438912"/>
          </a:xfrm>
          <a:prstGeom prst="ellipse">
            <a:avLst/>
          </a:prstGeom>
          <a:solidFill>
            <a:srgbClr val="0E9AA7"/>
          </a:solidFill>
          <a:ln/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77824" y="3337560"/>
            <a:ext cx="237744" cy="237744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325880" y="317296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Genome_72.gottcha2.lineage.tsv</a:t>
            </a:r>
            <a:pPr indent="0" marL="0">
              <a:buNone/>
            </a:pPr>
            <a:r>
              <a:rPr lang="en-US" sz="1050" b="1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11 KB</a:t>
            </a:r>
            <a:endParaRPr lang="en-US" sz="1150" dirty="0"/>
          </a:p>
        </p:txBody>
      </p:sp>
      <p:sp>
        <p:nvSpPr>
          <p:cNvPr id="28" name="Text 23"/>
          <p:cNvSpPr/>
          <p:nvPr/>
        </p:nvSpPr>
        <p:spPr>
          <a:xfrm>
            <a:off x="1325880" y="34838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gottcha2 · GOTTCHA2</a:t>
            </a:r>
            <a:endParaRPr lang="en-US" sz="1000" dirty="0"/>
          </a:p>
        </p:txBody>
      </p:sp>
      <p:sp>
        <p:nvSpPr>
          <p:cNvPr id="29" name="Text 24"/>
          <p:cNvSpPr/>
          <p:nvPr/>
        </p:nvSpPr>
        <p:spPr>
          <a:xfrm>
            <a:off x="4480560" y="3429000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only Viruses superkingdom</a:t>
            </a:r>
            <a:endParaRPr lang="en-US" sz="1100" dirty="0"/>
          </a:p>
        </p:txBody>
      </p:sp>
      <p:sp>
        <p:nvSpPr>
          <p:cNvPr id="30" name="Shape 25"/>
          <p:cNvSpPr/>
          <p:nvPr/>
        </p:nvSpPr>
        <p:spPr>
          <a:xfrm>
            <a:off x="548640" y="3941064"/>
            <a:ext cx="11091672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548640" y="3941064"/>
            <a:ext cx="91440" cy="731520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32" name="Shape 27"/>
          <p:cNvSpPr/>
          <p:nvPr/>
        </p:nvSpPr>
        <p:spPr>
          <a:xfrm>
            <a:off x="777240" y="4087368"/>
            <a:ext cx="438912" cy="438912"/>
          </a:xfrm>
          <a:prstGeom prst="ellipse">
            <a:avLst/>
          </a:prstGeom>
          <a:solidFill>
            <a:srgbClr val="E08A2B"/>
          </a:solidFill>
          <a:ln/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77824" y="4178808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1325880" y="4014216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Genome_72.checkv_quality_summary.tsv</a:t>
            </a:r>
            <a:pPr indent="0" marL="0">
              <a:buNone/>
            </a:pPr>
            <a:r>
              <a:rPr lang="en-US" sz="1050" b="1" dirty="0">
                <a:solidFill>
                  <a:srgbClr val="E0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5.7 MB</a:t>
            </a:r>
            <a:endParaRPr lang="en-US" sz="1150" dirty="0"/>
          </a:p>
        </p:txBody>
      </p:sp>
      <p:sp>
        <p:nvSpPr>
          <p:cNvPr id="35" name="Text 29"/>
          <p:cNvSpPr/>
          <p:nvPr/>
        </p:nvSpPr>
        <p:spPr>
          <a:xfrm>
            <a:off x="1325880" y="432511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6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novel_virus · CheckV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4480560" y="4270248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per-contig quality → candidates</a:t>
            </a:r>
            <a:endParaRPr lang="en-US" sz="1100" dirty="0"/>
          </a:p>
        </p:txBody>
      </p:sp>
      <p:sp>
        <p:nvSpPr>
          <p:cNvPr id="37" name="Shape 31"/>
          <p:cNvSpPr/>
          <p:nvPr/>
        </p:nvSpPr>
        <p:spPr>
          <a:xfrm>
            <a:off x="548640" y="4782312"/>
            <a:ext cx="11091672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548640" y="4782312"/>
            <a:ext cx="91440" cy="731520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39" name="Shape 33"/>
          <p:cNvSpPr/>
          <p:nvPr/>
        </p:nvSpPr>
        <p:spPr>
          <a:xfrm>
            <a:off x="777240" y="4928616"/>
            <a:ext cx="438912" cy="438912"/>
          </a:xfrm>
          <a:prstGeom prst="ellipse">
            <a:avLst/>
          </a:prstGeom>
          <a:solidFill>
            <a:srgbClr val="E08A2B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77824" y="5020056"/>
            <a:ext cx="237744" cy="237744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1325880" y="4855464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Genome_72.contig_homology.tsv</a:t>
            </a:r>
            <a:pPr indent="0" marL="0">
              <a:buNone/>
            </a:pPr>
            <a:r>
              <a:rPr lang="en-US" sz="1050" b="1" dirty="0">
                <a:solidFill>
                  <a:srgbClr val="E0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311 KB</a:t>
            </a:r>
            <a:endParaRPr lang="en-US" sz="1150" dirty="0"/>
          </a:p>
        </p:txBody>
      </p:sp>
      <p:sp>
        <p:nvSpPr>
          <p:cNvPr id="42" name="Text 35"/>
          <p:cNvSpPr/>
          <p:nvPr/>
        </p:nvSpPr>
        <p:spPr>
          <a:xfrm>
            <a:off x="1325880" y="51663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6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novel_virus · DIAMOND vs RVDB</a:t>
            </a:r>
            <a:endParaRPr lang="en-US" sz="1000" dirty="0"/>
          </a:p>
        </p:txBody>
      </p:sp>
      <p:sp>
        <p:nvSpPr>
          <p:cNvPr id="43" name="Text 36"/>
          <p:cNvSpPr/>
          <p:nvPr/>
        </p:nvSpPr>
        <p:spPr>
          <a:xfrm>
            <a:off x="4480560" y="5111496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known-virus hit → novelty</a:t>
            </a:r>
            <a:endParaRPr lang="en-US" sz="1100" dirty="0"/>
          </a:p>
        </p:txBody>
      </p:sp>
      <p:sp>
        <p:nvSpPr>
          <p:cNvPr id="44" name="Text 37"/>
          <p:cNvSpPr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downstream — 8 tables/*.csv + report.md — derives from these 5 files + manifest metadata + NCBI lineage + config.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3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97280"/>
            <a:ext cx="12191695" cy="27432"/>
          </a:xfrm>
          <a:prstGeom prst="rect">
            <a:avLst/>
          </a:prstGeom>
          <a:solidFill>
            <a:srgbClr val="DCE5E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310896"/>
            <a:ext cx="128016" cy="502920"/>
          </a:xfrm>
          <a:prstGeom prst="rect">
            <a:avLst/>
          </a:prstGeom>
          <a:solidFill>
            <a:srgbClr val="13355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33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502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Three-layer production architecture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MetaMAVS — Project Summary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417320"/>
            <a:ext cx="3538728" cy="4206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1417320"/>
            <a:ext cx="3538728" cy="82296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11" name="Shape 9"/>
          <p:cNvSpPr/>
          <p:nvPr/>
        </p:nvSpPr>
        <p:spPr>
          <a:xfrm>
            <a:off x="768096" y="1618488"/>
            <a:ext cx="457200" cy="457200"/>
          </a:xfrm>
          <a:prstGeom prst="ellipse">
            <a:avLst/>
          </a:prstGeom>
          <a:solidFill>
            <a:srgbClr val="0E9AA7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719072"/>
            <a:ext cx="256032" cy="25603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325880" y="1600200"/>
            <a:ext cx="257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web layer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22960" y="2167128"/>
            <a:ext cx="299008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Domain / HTTPS / login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Project &amp; sample metadata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Upload instructions &amp; task status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Calls Sapelo2 &amp; RunPod APIs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Displays reports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→ EC2 t4g.large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4325112" y="1417320"/>
            <a:ext cx="3538728" cy="4206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25112" y="1417320"/>
            <a:ext cx="3538728" cy="82296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17" name="Shape 14"/>
          <p:cNvSpPr/>
          <p:nvPr/>
        </p:nvSpPr>
        <p:spPr>
          <a:xfrm>
            <a:off x="4544568" y="1618488"/>
            <a:ext cx="457200" cy="457200"/>
          </a:xfrm>
          <a:prstGeom prst="ellipse">
            <a:avLst/>
          </a:prstGeom>
          <a:solidFill>
            <a:srgbClr val="E08A2B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45152" y="1719072"/>
            <a:ext cx="256032" cy="25603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102352" y="1600200"/>
            <a:ext cx="257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 Sapelo2 / Globus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4599432" y="2167128"/>
            <a:ext cx="299008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TB-scale sequencing data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/project or /scratch analysis area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Slurm bioinformatics pipelines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Sends result files to the web layer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→ /project · /scratch</a:t>
            </a:r>
            <a:endParaRPr lang="en-US" sz="1080" dirty="0"/>
          </a:p>
        </p:txBody>
      </p:sp>
      <p:sp>
        <p:nvSpPr>
          <p:cNvPr id="21" name="Shape 17"/>
          <p:cNvSpPr/>
          <p:nvPr/>
        </p:nvSpPr>
        <p:spPr>
          <a:xfrm>
            <a:off x="8101584" y="1417320"/>
            <a:ext cx="3538728" cy="4206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101584" y="1417320"/>
            <a:ext cx="3538728" cy="82296"/>
          </a:xfrm>
          <a:prstGeom prst="rect">
            <a:avLst/>
          </a:prstGeom>
          <a:solidFill>
            <a:srgbClr val="2FA36B"/>
          </a:solidFill>
          <a:ln/>
        </p:spPr>
      </p:sp>
      <p:sp>
        <p:nvSpPr>
          <p:cNvPr id="23" name="Shape 19"/>
          <p:cNvSpPr/>
          <p:nvPr/>
        </p:nvSpPr>
        <p:spPr>
          <a:xfrm>
            <a:off x="8321040" y="1618488"/>
            <a:ext cx="457200" cy="457200"/>
          </a:xfrm>
          <a:prstGeom prst="ellipse">
            <a:avLst/>
          </a:prstGeom>
          <a:solidFill>
            <a:srgbClr val="2FA36B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421624" y="1719072"/>
            <a:ext cx="256032" cy="25603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8878824" y="1600200"/>
            <a:ext cx="257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RunPod GPU inference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8375904" y="2167128"/>
            <a:ext cx="299008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Local open-weight LLMs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Multi-agent reasoning workflows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Evidence synthesis &amp; interpretation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→ A100 PCIe</a:t>
            </a:r>
            <a:endParaRPr lang="en-US" sz="1080" dirty="0"/>
          </a:p>
        </p:txBody>
      </p:sp>
      <p:sp>
        <p:nvSpPr>
          <p:cNvPr id="27" name="Text 22"/>
          <p:cNvSpPr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responsibility boundaries: the web layer never runs analysis; the cluster never serves the site; the GPU layer only runs inference.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3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97280"/>
            <a:ext cx="12191695" cy="27432"/>
          </a:xfrm>
          <a:prstGeom prst="rect">
            <a:avLst/>
          </a:prstGeom>
          <a:solidFill>
            <a:srgbClr val="DCE5E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310896"/>
            <a:ext cx="128016" cy="502920"/>
          </a:xfrm>
          <a:prstGeom prst="rect">
            <a:avLst/>
          </a:prstGeom>
          <a:solidFill>
            <a:srgbClr val="2FA36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7432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FA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502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— GPU choice drives the bill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MetaMAVS — Project Summary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463040"/>
            <a:ext cx="553212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1463040"/>
            <a:ext cx="5532120" cy="82296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11" name="Shape 9"/>
          <p:cNvSpPr/>
          <p:nvPr/>
        </p:nvSpPr>
        <p:spPr>
          <a:xfrm>
            <a:off x="768096" y="1664208"/>
            <a:ext cx="457200" cy="457200"/>
          </a:xfrm>
          <a:prstGeom prst="ellipse">
            <a:avLst/>
          </a:prstGeom>
          <a:solidFill>
            <a:srgbClr val="0E9AA7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764792"/>
            <a:ext cx="256032" cy="25603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325880" y="16459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GPU: RunPod, not AWS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22960" y="2212848"/>
            <a:ext cx="4983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AWS: GPUs only in 8× A100 batches at $27.45/hr = $3.43/hr per GPU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RunPod A100: $1.39/hr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→ RunPod chosen for GPU inference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6172200" y="1463040"/>
            <a:ext cx="548640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172200" y="1463040"/>
            <a:ext cx="5486400" cy="82296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17" name="Shape 14"/>
          <p:cNvSpPr/>
          <p:nvPr/>
        </p:nvSpPr>
        <p:spPr>
          <a:xfrm>
            <a:off x="6391656" y="1664208"/>
            <a:ext cx="457200" cy="457200"/>
          </a:xfrm>
          <a:prstGeom prst="ellipse">
            <a:avLst/>
          </a:prstGeom>
          <a:solidFill>
            <a:srgbClr val="E08A2B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92240" y="1764792"/>
            <a:ext cx="256032" cy="25603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949440" y="164592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Weekday-online caveat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6446520" y="2212848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Weekday GPU-online config is cheapest</a:t>
            </a: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endParaRPr lang="en-US" sz="108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8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But cannot guarantee GPU availability at morning boot</a:t>
            </a:r>
            <a:endParaRPr lang="en-US" sz="1080" dirty="0"/>
          </a:p>
        </p:txBody>
      </p:sp>
      <p:sp>
        <p:nvSpPr>
          <p:cNvPr id="21" name="Shape 17"/>
          <p:cNvSpPr/>
          <p:nvPr/>
        </p:nvSpPr>
        <p:spPr>
          <a:xfrm>
            <a:off x="548640" y="3886200"/>
            <a:ext cx="5394960" cy="1874520"/>
          </a:xfrm>
          <a:prstGeom prst="rect">
            <a:avLst/>
          </a:prstGeom>
          <a:solidFill>
            <a:srgbClr val="12294A"/>
          </a:solidFill>
          <a:ln/>
        </p:spPr>
      </p:sp>
      <p:sp>
        <p:nvSpPr>
          <p:cNvPr id="22" name="Shape 18"/>
          <p:cNvSpPr/>
          <p:nvPr/>
        </p:nvSpPr>
        <p:spPr>
          <a:xfrm>
            <a:off x="548640" y="3886200"/>
            <a:ext cx="91440" cy="1874520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23" name="Text 19"/>
          <p:cNvSpPr/>
          <p:nvPr/>
        </p:nvSpPr>
        <p:spPr>
          <a:xfrm>
            <a:off x="868680" y="4160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~$5,551 / yr</a:t>
            </a:r>
            <a:endParaRPr lang="en-US" sz="3400" dirty="0"/>
          </a:p>
        </p:txBody>
      </p:sp>
      <p:sp>
        <p:nvSpPr>
          <p:cNvPr id="24" name="Text 20"/>
          <p:cNvSpPr/>
          <p:nvPr/>
        </p:nvSpPr>
        <p:spPr>
          <a:xfrm>
            <a:off x="868680" y="50292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Weekday GPU online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6153912" y="3886200"/>
            <a:ext cx="5394960" cy="1874520"/>
          </a:xfrm>
          <a:prstGeom prst="rect">
            <a:avLst/>
          </a:prstGeom>
          <a:solidFill>
            <a:srgbClr val="12294A"/>
          </a:solidFill>
          <a:ln/>
        </p:spPr>
      </p:sp>
      <p:sp>
        <p:nvSpPr>
          <p:cNvPr id="26" name="Shape 22"/>
          <p:cNvSpPr/>
          <p:nvPr/>
        </p:nvSpPr>
        <p:spPr>
          <a:xfrm>
            <a:off x="6153912" y="3886200"/>
            <a:ext cx="91440" cy="1874520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27" name="Text 23"/>
          <p:cNvSpPr/>
          <p:nvPr/>
        </p:nvSpPr>
        <p:spPr>
          <a:xfrm>
            <a:off x="6473952" y="4160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~$13,036 / yr</a:t>
            </a:r>
            <a:endParaRPr lang="en-US" sz="3400" dirty="0"/>
          </a:p>
        </p:txBody>
      </p:sp>
      <p:sp>
        <p:nvSpPr>
          <p:cNvPr id="28" name="Text 24"/>
          <p:cNvSpPr/>
          <p:nvPr/>
        </p:nvSpPr>
        <p:spPr>
          <a:xfrm>
            <a:off x="6473952" y="50292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 A100 service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B1E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&amp; TAKEAWAY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working multi-agent surveillance system, proven on real data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822960" y="1874520"/>
            <a:ext cx="5074920" cy="1325880"/>
          </a:xfrm>
          <a:prstGeom prst="rect">
            <a:avLst/>
          </a:prstGeom>
          <a:solidFill>
            <a:srgbClr val="12294A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874520"/>
            <a:ext cx="5074920" cy="91440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0574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core runs key-free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097280" y="2459736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1–3 need no LLM; the AI layer is additive &amp; degrades gracefully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355080" y="1874520"/>
            <a:ext cx="5074920" cy="1325880"/>
          </a:xfrm>
          <a:prstGeom prst="rect">
            <a:avLst/>
          </a:prstGeom>
          <a:solidFill>
            <a:srgbClr val="12294A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55080" y="1874520"/>
            <a:ext cx="5074920" cy="91440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20574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6/6 agents on a real Sapelo2 run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629400" y="2459736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Genome_72: all six fired; Gemma report; RVDB-verified novelty; tests pass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" y="3429000"/>
            <a:ext cx="5074920" cy="1325880"/>
          </a:xfrm>
          <a:prstGeom prst="rect">
            <a:avLst/>
          </a:prstGeom>
          <a:solidFill>
            <a:srgbClr val="12294A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2960" y="3429000"/>
            <a:ext cx="5074920" cy="91440"/>
          </a:xfrm>
          <a:prstGeom prst="rect">
            <a:avLst/>
          </a:prstGeom>
          <a:solidFill>
            <a:srgbClr val="2FA36B"/>
          </a:solidFill>
          <a:ln/>
        </p:spPr>
      </p:sp>
      <p:sp>
        <p:nvSpPr>
          <p:cNvPr id="15" name="Text 13"/>
          <p:cNvSpPr/>
          <p:nvPr/>
        </p:nvSpPr>
        <p:spPr>
          <a:xfrm>
            <a:off x="1097280" y="36118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 &amp; cost-aware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1097280" y="4014216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local Gemma (free/private); tiered Claude; RunPod GPU far cheaper than AWS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355080" y="3429000"/>
            <a:ext cx="5074920" cy="1325880"/>
          </a:xfrm>
          <a:prstGeom prst="rect">
            <a:avLst/>
          </a:prstGeom>
          <a:solidFill>
            <a:srgbClr val="12294A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55080" y="3429000"/>
            <a:ext cx="5074920" cy="91440"/>
          </a:xfrm>
          <a:prstGeom prst="rect">
            <a:avLst/>
          </a:prstGeom>
          <a:solidFill>
            <a:srgbClr val="13355F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36118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Cautious &amp; reproducible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629400" y="4014216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'Detected signal' not 'confirmed'; declared state; human review; full docs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22960" y="5349240"/>
            <a:ext cx="10561320" cy="914400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22" name="Text 20"/>
          <p:cNvSpPr/>
          <p:nvPr/>
        </p:nvSpPr>
        <p:spPr>
          <a:xfrm>
            <a:off x="1188720" y="53492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MetaMAVS: </a:t>
            </a:r>
            <a:pPr indent="0" marL="0">
              <a:buNone/>
            </a:pPr>
            <a:r>
              <a:rPr lang="en-US" sz="1400" dirty="0">
                <a:solidFill>
                  <a:srgbClr val="EAF7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cautious, reproducible, LangGraph multi-agent pipeline — from raw metagenome to an AI-interpreted surveillance report.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MetaMAVS — Detailed Summary</dc:title>
  <dc:subject>PptxGenJS Presentation</dc:subject>
  <dc:creator>MetaMAVS</dc:creator>
  <cp:lastModifiedBy>MetaMAVS</cp:lastModifiedBy>
  <cp:revision>1</cp:revision>
  <dcterms:created xsi:type="dcterms:W3CDTF">2026-07-13T14:16:19Z</dcterms:created>
  <dcterms:modified xsi:type="dcterms:W3CDTF">2026-07-13T14:16:19Z</dcterms:modified>
</cp:coreProperties>
</file>