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303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HPC 结果到报告：数据流全景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11091672" cy="1051560"/>
          </a:xfrm>
          <a:prstGeom prst="rect">
            <a:avLst/>
          </a:prstGeom>
          <a:solidFill>
            <a:srgbClr val="FBEEDD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17320"/>
            <a:ext cx="91440" cy="105156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1627632"/>
            <a:ext cx="548640" cy="54864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310896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15179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6A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两个常见误解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63040" y="18288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报告不是 LLM 生成的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report_writer 是确定性 Python，模型只写其中一段解读。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583680" y="18288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LLM 不直接读 tsv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它读的是被确定性算好的结构化摘要，不是原始 tsv。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063240"/>
            <a:ext cx="1600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3063240"/>
            <a:ext cx="1600200" cy="457200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6656" y="3163824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87552" y="30632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40080" y="3611880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.gottcha2.tsv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.lineage.tsv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148840" y="36804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2423160" y="3063240"/>
            <a:ext cx="3794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423160" y="3063240"/>
            <a:ext cx="3794760" cy="457200"/>
          </a:xfrm>
          <a:prstGeom prst="rect">
            <a:avLst/>
          </a:prstGeom>
          <a:solidFill>
            <a:srgbClr val="0E9AA7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551176" y="3163824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862072" y="30632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确定性链路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2514600" y="361188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 → taxonomy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abundance → risk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217920" y="36804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492240" y="3063240"/>
            <a:ext cx="20574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492240" y="3063240"/>
            <a:ext cx="2057400" cy="457200"/>
          </a:xfrm>
          <a:prstGeom prst="rect">
            <a:avLst/>
          </a:prstGeom>
          <a:solidFill>
            <a:srgbClr val="E08A2B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620256" y="3163824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31152" y="3063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解释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6583680" y="361188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llm_interpretation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只写叙事段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8549640" y="36804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8823960" y="3063240"/>
            <a:ext cx="17830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8823960" y="3063240"/>
            <a:ext cx="1783080" cy="457200"/>
          </a:xfrm>
          <a:prstGeom prst="rect">
            <a:avLst/>
          </a:prstGeom>
          <a:solidFill>
            <a:srgbClr val="13355F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951976" y="3163824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262872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report_writer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8915400" y="36118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确定性拼装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（无 LLM 调用）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10607040" y="36804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10881360" y="3063240"/>
            <a:ext cx="758952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10881360" y="3063240"/>
            <a:ext cx="758952" cy="457200"/>
          </a:xfrm>
          <a:prstGeom prst="rect">
            <a:avLst/>
          </a:prstGeom>
          <a:solidFill>
            <a:srgbClr val="2FA36B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009376" y="3163824"/>
            <a:ext cx="256032" cy="25603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1320272" y="306324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</a:t>
            </a:r>
            <a:endParaRPr lang="en-US" sz="950" dirty="0"/>
          </a:p>
        </p:txBody>
      </p:sp>
      <p:sp>
        <p:nvSpPr>
          <p:cNvPr id="43" name="Text 35"/>
          <p:cNvSpPr/>
          <p:nvPr/>
        </p:nvSpPr>
        <p:spPr>
          <a:xfrm>
            <a:off x="10972800" y="3611880"/>
            <a:ext cx="576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.html</a:t>
            </a:r>
            <a:endParaRPr lang="en-US" sz="850" dirty="0"/>
          </a:p>
        </p:txBody>
      </p:sp>
      <p:sp>
        <p:nvSpPr>
          <p:cNvPr id="44" name="Text 36"/>
          <p:cNvSpPr/>
          <p:nvPr/>
        </p:nvSpPr>
        <p:spPr>
          <a:xfrm>
            <a:off x="548640" y="4892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 tsv 只被 parse 消费；LLM 处在 risk 之后，只对已算好的摘要写解读。</a:t>
            </a:r>
            <a:endParaRPr lang="en-US" sz="1150" dirty="0"/>
          </a:p>
        </p:txBody>
      </p:sp>
      <p:sp>
        <p:nvSpPr>
          <p:cNvPr id="45" name="Shape 37"/>
          <p:cNvSpPr/>
          <p:nvPr/>
        </p:nvSpPr>
        <p:spPr>
          <a:xfrm>
            <a:off x="548640" y="5349240"/>
            <a:ext cx="3538728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548640" y="5349240"/>
            <a:ext cx="82296" cy="9601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7" name="Text 39"/>
          <p:cNvSpPr/>
          <p:nvPr/>
        </p:nvSpPr>
        <p:spPr>
          <a:xfrm>
            <a:off x="804672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回传最小结果</a:t>
            </a:r>
            <a:endParaRPr lang="en-US" sz="1250" dirty="0"/>
          </a:p>
        </p:txBody>
      </p:sp>
      <p:sp>
        <p:nvSpPr>
          <p:cNvPr id="48" name="Text 40"/>
          <p:cNvSpPr/>
          <p:nvPr/>
        </p:nvSpPr>
        <p:spPr>
          <a:xfrm>
            <a:off x="804672" y="574243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每样本仅 2 个 tsv（主表必需 / lineage 可选），中间产物留在集群</a:t>
            </a:r>
            <a:endParaRPr lang="en-US" sz="1000" dirty="0"/>
          </a:p>
        </p:txBody>
      </p:sp>
      <p:sp>
        <p:nvSpPr>
          <p:cNvPr id="49" name="Shape 41"/>
          <p:cNvSpPr/>
          <p:nvPr/>
        </p:nvSpPr>
        <p:spPr>
          <a:xfrm>
            <a:off x="4306824" y="5349240"/>
            <a:ext cx="3538728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50" name="Shape 42"/>
          <p:cNvSpPr/>
          <p:nvPr/>
        </p:nvSpPr>
        <p:spPr>
          <a:xfrm>
            <a:off x="4306824" y="5349240"/>
            <a:ext cx="82296" cy="9601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1" name="Text 43"/>
          <p:cNvSpPr/>
          <p:nvPr/>
        </p:nvSpPr>
        <p:spPr>
          <a:xfrm>
            <a:off x="4562856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数字是确定性算的</a:t>
            </a:r>
            <a:endParaRPr lang="en-US" sz="1250" dirty="0"/>
          </a:p>
        </p:txBody>
      </p:sp>
      <p:sp>
        <p:nvSpPr>
          <p:cNvPr id="52" name="Text 44"/>
          <p:cNvSpPr/>
          <p:nvPr/>
        </p:nvSpPr>
        <p:spPr>
          <a:xfrm>
            <a:off x="4562856" y="574243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parse/taxonomy/abundance/risk 全为 Python，LLM 不参与计算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8065008" y="5349240"/>
            <a:ext cx="3538728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54" name="Shape 46"/>
          <p:cNvSpPr/>
          <p:nvPr/>
        </p:nvSpPr>
        <p:spPr>
          <a:xfrm>
            <a:off x="8065008" y="5349240"/>
            <a:ext cx="82296" cy="96012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55" name="Text 47"/>
          <p:cNvSpPr/>
          <p:nvPr/>
        </p:nvSpPr>
        <p:spPr>
          <a:xfrm>
            <a:off x="8321040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只做解释</a:t>
            </a:r>
            <a:endParaRPr lang="en-US" sz="1250" dirty="0"/>
          </a:p>
        </p:txBody>
      </p:sp>
      <p:sp>
        <p:nvSpPr>
          <p:cNvPr id="56" name="Text 48"/>
          <p:cNvSpPr/>
          <p:nvPr/>
        </p:nvSpPr>
        <p:spPr>
          <a:xfrm>
            <a:off x="8321040" y="574243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读结构化摘要 → 写叙事段 + 表内 [LLM] 推理串，不生成报告骨架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WHERE THE LLM SITS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303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到底写了什么：报告不是它生成的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852160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63040"/>
            <a:ext cx="5852160" cy="640080"/>
          </a:xfrm>
          <a:prstGeom prst="rect">
            <a:avLst/>
          </a:prstGeom>
          <a:solidFill>
            <a:srgbClr val="13355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36776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463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确定性拼装（report_writer · 无 LLM）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2331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3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报告骨架 / 标题 / 时间戳 / 复现信息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28072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3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样本汇总表、QC 表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328269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3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病毒检出表、风险等级表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375818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3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人工复核记录、建议行动清单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" y="423367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3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→ HTML 渲染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2960" y="5779008"/>
            <a:ext cx="5303520" cy="18288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852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3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report_writer_agent.py：整段无 generate() 调用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583680" y="1463040"/>
            <a:ext cx="5056632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83680" y="1463040"/>
            <a:ext cx="5056632" cy="640080"/>
          </a:xfrm>
          <a:prstGeom prst="rect">
            <a:avLst/>
          </a:prstGeom>
          <a:solidFill>
            <a:srgbClr val="E08A2B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0" y="1636776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0" y="1463040"/>
            <a:ext cx="4142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贡献（Gemma / Claude）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858000" y="2331720"/>
            <a:ext cx="4507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“AI-Assisted Interpretation” 叙事段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858000" y="2807208"/>
            <a:ext cx="4507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taxonomy / risk 表内的 [LLM] 推理串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858000" y="3282696"/>
            <a:ext cx="4507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QC / 趋势的 [LLM] 注解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858000" y="5779008"/>
            <a:ext cx="4507992" cy="18288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27" name="Text 23"/>
          <p:cNvSpPr/>
          <p:nvPr/>
        </p:nvSpPr>
        <p:spPr>
          <a:xfrm>
            <a:off x="6858000" y="5852160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156–163 行：把已生成的叙事文本插入报告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“Claude/Gemma 出的报告” = 模型写了那一段解读，被确定性写手嵌进去。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PROMPTS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303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喂给模型的 Prompt 三件套（以叙事节点为例）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538728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63040"/>
            <a:ext cx="3538728" cy="777240"/>
          </a:xfrm>
          <a:prstGeom prst="rect">
            <a:avLst/>
          </a:prstGeom>
          <a:solidFill>
            <a:srgbClr val="E08A2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" y="166420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07008" y="1517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System prompt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07008" y="1865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+ 硬性审慎规则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77240" y="242316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“DETECTED SEQUENCE SIGNALS，非确诊/暴发”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77240" y="299008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&lt;10 reads 视为弱信号并标注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77240" y="355701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噬菌体单独报告；High/Critical 必建议 RT-qPCR 确证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77240" y="41239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不得虚构数据外的 taxa/数字/趋势；4 段 &lt;450 词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77240" y="4681728"/>
            <a:ext cx="3081528" cy="18288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4754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prompts.py:16 — 两模型都审慎，是它逼的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306824" y="1463040"/>
            <a:ext cx="3538728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06824" y="1463040"/>
            <a:ext cx="3538728" cy="777240"/>
          </a:xfrm>
          <a:prstGeom prst="rect">
            <a:avLst/>
          </a:prstGeom>
          <a:solidFill>
            <a:srgbClr val="0E9AA7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62856" y="1664208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965192" y="1517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User prompt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965192" y="1865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结构化摘要（JSON）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535424" y="242316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 名、样本数 / 站点 / 采样日期、检测工具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535424" y="299008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overall_risk、各等级计数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535424" y="355701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top_risk_taxa（名/等级/reads/趋势/理由）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535424" y="41239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开头：“Use only this data.”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535424" y="4681728"/>
            <a:ext cx="3081528" cy="18288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29" name="Text 25"/>
          <p:cNvSpPr/>
          <p:nvPr/>
        </p:nvSpPr>
        <p:spPr>
          <a:xfrm>
            <a:off x="4535424" y="4754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prompts.py:183 — 不是原始 tsv，是算好的摘要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8065008" y="1463040"/>
            <a:ext cx="3538728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065008" y="1463040"/>
            <a:ext cx="3538728" cy="777240"/>
          </a:xfrm>
          <a:prstGeom prst="rect">
            <a:avLst/>
          </a:prstGeom>
          <a:solidFill>
            <a:srgbClr val="13355F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21040" y="1664208"/>
            <a:ext cx="292608" cy="29260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723376" y="1517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Cached prefix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8723376" y="1865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共享参考（缓存前缀）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8293608" y="242316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33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SHARED_REFERENCE：策展病原背景 + 规范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8293608" y="299008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33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按检出 taxa 注入 pathogen_snippets 背景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8293608" y="355701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33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 agent 复用 → 前缀缓存命中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8293608" y="4681728"/>
            <a:ext cx="3081528" cy="18288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39" name="Text 34"/>
          <p:cNvSpPr/>
          <p:nvPr/>
        </p:nvSpPr>
        <p:spPr>
          <a:xfrm>
            <a:off x="8293608" y="4754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33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reference.py — 稳定前缀，降本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548640" y="5349240"/>
            <a:ext cx="11091672" cy="960120"/>
          </a:xfrm>
          <a:prstGeom prst="rect">
            <a:avLst/>
          </a:prstGeom>
          <a:solidFill>
            <a:srgbClr val="0B1E39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868680" y="5596128"/>
            <a:ext cx="502920" cy="50292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5705856"/>
            <a:ext cx="283464" cy="283464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1554480" y="534924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3E1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 tsv → 确定性链路算出数字 → LLM 只据摘要写一段解读（受严格 prompt 约束）→ 确定性写手把它嵌进报告。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MetaMAVS 数据流与 Prompt</dc:title>
  <dc:subject>PptxGenJS Presentation</dc:subject>
  <dc:creator>PptxGenJS</dc:creator>
  <cp:lastModifiedBy>PptxGenJS</cp:lastModifiedBy>
  <cp:revision>1</cp:revision>
  <dcterms:created xsi:type="dcterms:W3CDTF">2026-07-10T15:48:14Z</dcterms:created>
  <dcterms:modified xsi:type="dcterms:W3CDTF">2026-07-10T15:48:14Z</dcterms:modified>
</cp:coreProperties>
</file>