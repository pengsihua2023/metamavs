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METAMAVS · 推理后端迁移报告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Claude 迁移到本地 </a:t>
            </a:r>
            <a:pPr indent="0" marL="0">
              <a:buNone/>
            </a:pPr>
            <a:r>
              <a:rPr lang="en-US" sz="4600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Gemma 4 E2B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多智能体病毒监测系统的 LLM 推理层可插拔化 · 两模型输出质量实测对比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3383280" cy="173736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3977640"/>
            <a:ext cx="82296" cy="173736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4224528"/>
            <a:ext cx="566928" cy="566928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4352544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2880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9DB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个文件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1133856" y="5029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核心改动即完成迁移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434840" y="3977640"/>
            <a:ext cx="3383280" cy="173736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14" name="Shape 11"/>
          <p:cNvSpPr/>
          <p:nvPr/>
        </p:nvSpPr>
        <p:spPr>
          <a:xfrm>
            <a:off x="4434840" y="3977640"/>
            <a:ext cx="82296" cy="173736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7448" y="4224528"/>
            <a:ext cx="566928" cy="566928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4352544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4068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125</a:t>
            </a:r>
            <a:pPr indent="0" marL="0">
              <a:buNone/>
            </a:pPr>
            <a:r>
              <a:rPr lang="en-US" sz="1400" dirty="0">
                <a:solidFill>
                  <a:srgbClr val="9DB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测试</a:t>
            </a:r>
            <a:endParaRPr lang="en-US" sz="3400" dirty="0"/>
          </a:p>
        </p:txBody>
      </p:sp>
      <p:sp>
        <p:nvSpPr>
          <p:cNvPr id="18" name="Text 14"/>
          <p:cNvSpPr/>
          <p:nvPr/>
        </p:nvSpPr>
        <p:spPr>
          <a:xfrm>
            <a:off x="4745736" y="5029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全部通过，0 回归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046720" y="3977640"/>
            <a:ext cx="3383280" cy="173736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20" name="Shape 16"/>
          <p:cNvSpPr/>
          <p:nvPr/>
        </p:nvSpPr>
        <p:spPr>
          <a:xfrm>
            <a:off x="8046720" y="3977640"/>
            <a:ext cx="82296" cy="173736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21" name="Shape 17"/>
          <p:cNvSpPr/>
          <p:nvPr/>
        </p:nvSpPr>
        <p:spPr>
          <a:xfrm>
            <a:off x="8339328" y="4224528"/>
            <a:ext cx="566928" cy="566928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4352544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5256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 = High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8357616" y="5029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两模型风险判定一致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2296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MetaMAVS: Metagenomic Multi-Agent Virus Surveillance  ·  2026-07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MIGRATION OVERVIEW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3035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迁移方案：一个开关，六个 Agent 零改动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47548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架构变化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2011680" cy="868680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2103120"/>
            <a:ext cx="73152" cy="86868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B06A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迁移前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(Anthropic SDK)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claude-opus-4-8 · 云端付费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07792" y="2304288"/>
            <a:ext cx="493776" cy="493776"/>
          </a:xfrm>
          <a:prstGeom prst="ellipse">
            <a:avLst/>
          </a:prstGeom>
          <a:solidFill>
            <a:srgbClr val="13355F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6664" y="2423160"/>
            <a:ext cx="256032" cy="2560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520440" y="2103120"/>
            <a:ext cx="1691640" cy="868680"/>
          </a:xfrm>
          <a:prstGeom prst="rect">
            <a:avLst/>
          </a:prstGeom>
          <a:solidFill>
            <a:srgbClr val="DFF3F4"/>
          </a:solidFill>
          <a:ln/>
        </p:spPr>
      </p:sp>
      <p:sp>
        <p:nvSpPr>
          <p:cNvPr id="16" name="Shape 13"/>
          <p:cNvSpPr/>
          <p:nvPr/>
        </p:nvSpPr>
        <p:spPr>
          <a:xfrm>
            <a:off x="3520440" y="2103120"/>
            <a:ext cx="73152" cy="86868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7" name="Text 14"/>
          <p:cNvSpPr/>
          <p:nvPr/>
        </p:nvSpPr>
        <p:spPr>
          <a:xfrm>
            <a:off x="3675888" y="21945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A6E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迁移后（默认）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Gemma 4 E2B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llama-server · 免费私密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77240" y="3200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LLM_BACKEND</a:t>
            </a:r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环境变量一键切换  gemma ⇄ claude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532120" y="1508760"/>
            <a:ext cx="61264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760720" y="1737360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847088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355080" y="1737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为什么只改一个文件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5760720" y="2331720"/>
            <a:ext cx="5715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6E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关键发现：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项目并未使用 LangChain，LLM 调用早已集中在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metamavs/llm/client.py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一个模块，对外只暴露 generate() / generate_json() 四个函数。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5760720" y="3200400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只需在该文件内加后端分支；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 / taxonomy / abundance / novel_virus / risk / narrative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A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 LLM Agent 业务逻辑零改动。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548640" y="4114800"/>
            <a:ext cx="3538728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48640" y="4114800"/>
            <a:ext cx="3538728" cy="822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7" name="Shape 23"/>
          <p:cNvSpPr/>
          <p:nvPr/>
        </p:nvSpPr>
        <p:spPr>
          <a:xfrm>
            <a:off x="804672" y="4407408"/>
            <a:ext cx="512064" cy="512064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526280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463040" y="4389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迁移中修复 1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1463040" y="4617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推理模型 token 下限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804672" y="51663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Gemma 先思考再作答，token 太少内容会被推理吃光 → 设 2048 下限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306824" y="4114800"/>
            <a:ext cx="3538728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306824" y="4114800"/>
            <a:ext cx="3538728" cy="82296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34" name="Shape 29"/>
          <p:cNvSpPr/>
          <p:nvPr/>
        </p:nvSpPr>
        <p:spPr>
          <a:xfrm>
            <a:off x="4562856" y="4407408"/>
            <a:ext cx="512064" cy="512064"/>
          </a:xfrm>
          <a:prstGeom prst="ellipse">
            <a:avLst/>
          </a:prstGeom>
          <a:solidFill>
            <a:srgbClr val="13355F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4526280"/>
            <a:ext cx="274320" cy="2743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221224" y="4389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3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迁移中修复 2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221224" y="4617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缓存断点折叠</a:t>
            </a:r>
            <a:endParaRPr lang="en-US" sz="1350" dirty="0"/>
          </a:p>
        </p:txBody>
      </p:sp>
      <p:sp>
        <p:nvSpPr>
          <p:cNvPr id="38" name="Text 32"/>
          <p:cNvSpPr/>
          <p:nvPr/>
        </p:nvSpPr>
        <p:spPr>
          <a:xfrm>
            <a:off x="4562856" y="51663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接口无 cache_control → 共享参考并入 system，服务器自动前缀缓存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8065008" y="4114800"/>
            <a:ext cx="3538728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8065008" y="4114800"/>
            <a:ext cx="3538728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41" name="Shape 35"/>
          <p:cNvSpPr/>
          <p:nvPr/>
        </p:nvSpPr>
        <p:spPr>
          <a:xfrm>
            <a:off x="8321040" y="4407408"/>
            <a:ext cx="512064" cy="512064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4526280"/>
            <a:ext cx="274320" cy="27432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8979408" y="4389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迁移中修复 3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8979408" y="4617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模型归因修正</a:t>
            </a:r>
            <a:endParaRPr lang="en-US" sz="1350" dirty="0"/>
          </a:p>
        </p:txBody>
      </p:sp>
      <p:sp>
        <p:nvSpPr>
          <p:cNvPr id="45" name="Text 38"/>
          <p:cNvSpPr/>
          <p:nvPr/>
        </p:nvSpPr>
        <p:spPr>
          <a:xfrm>
            <a:off x="8321040" y="51663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active_model() 让报告标注真实模型 gemma-4-E2B-it，而非配置里的 claude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A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3035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迁移验证：测试全绿，端到端零错误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3538728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508760"/>
            <a:ext cx="91440" cy="178308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" y="1783080"/>
            <a:ext cx="548640" cy="54864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911096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17373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A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125</a:t>
            </a:r>
            <a:pPr indent="0" marL="0">
              <a:buNone/>
            </a:pPr>
            <a:r>
              <a:rPr lang="en-US" sz="15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125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859536" y="2514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单元测试通过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59536" y="28163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无回归，Claude 路径原样保留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4306824" y="1508760"/>
            <a:ext cx="3538728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06824" y="1508760"/>
            <a:ext cx="91440" cy="178308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7" name="Shape 14"/>
          <p:cNvSpPr/>
          <p:nvPr/>
        </p:nvSpPr>
        <p:spPr>
          <a:xfrm>
            <a:off x="4599432" y="1783080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911096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66944" y="17373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pPr indent="0" marL="0">
              <a:buNone/>
            </a:pPr>
            <a:r>
              <a:rPr lang="en-US" sz="15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errors</a:t>
            </a:r>
            <a:endParaRPr lang="en-US" sz="3800" dirty="0"/>
          </a:p>
        </p:txBody>
      </p:sp>
      <p:sp>
        <p:nvSpPr>
          <p:cNvPr id="20" name="Text 16"/>
          <p:cNvSpPr/>
          <p:nvPr/>
        </p:nvSpPr>
        <p:spPr>
          <a:xfrm>
            <a:off x="4617720" y="2514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 dry-run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617720" y="28163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 LLM 节点全部经 Gemma 触发，报告成功生成</a:t>
            </a:r>
            <a:endParaRPr lang="en-US" sz="1080" dirty="0"/>
          </a:p>
        </p:txBody>
      </p:sp>
      <p:sp>
        <p:nvSpPr>
          <p:cNvPr id="22" name="Shape 18"/>
          <p:cNvSpPr/>
          <p:nvPr/>
        </p:nvSpPr>
        <p:spPr>
          <a:xfrm>
            <a:off x="8065008" y="1508760"/>
            <a:ext cx="3538728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065008" y="1508760"/>
            <a:ext cx="91440" cy="1783080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24" name="Shape 20"/>
          <p:cNvSpPr/>
          <p:nvPr/>
        </p:nvSpPr>
        <p:spPr>
          <a:xfrm>
            <a:off x="8357616" y="1783080"/>
            <a:ext cx="548640" cy="548640"/>
          </a:xfrm>
          <a:prstGeom prst="ellipse">
            <a:avLst/>
          </a:prstGeom>
          <a:solidFill>
            <a:srgbClr val="13355F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911096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025128" y="17373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33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buNone/>
            </a:pPr>
            <a:r>
              <a:rPr lang="en-US" sz="15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backends</a:t>
            </a:r>
            <a:endParaRPr lang="en-US" sz="3800" dirty="0"/>
          </a:p>
        </p:txBody>
      </p:sp>
      <p:sp>
        <p:nvSpPr>
          <p:cNvPr id="27" name="Text 22"/>
          <p:cNvSpPr/>
          <p:nvPr/>
        </p:nvSpPr>
        <p:spPr>
          <a:xfrm>
            <a:off x="8375904" y="2514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后端切换正常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8375904" y="28163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gemma / claude 均可用，默认 gemma</a:t>
            </a:r>
            <a:endParaRPr lang="en-US" sz="1080" dirty="0"/>
          </a:p>
        </p:txBody>
      </p:sp>
      <p:sp>
        <p:nvSpPr>
          <p:cNvPr id="29" name="Shape 24"/>
          <p:cNvSpPr/>
          <p:nvPr/>
        </p:nvSpPr>
        <p:spPr>
          <a:xfrm>
            <a:off x="548640" y="3520440"/>
            <a:ext cx="55321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rgbClr val="13355F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858768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3716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改动的文件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822960" y="43159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</a:t>
            </a:r>
            <a:pPr indent="0" marL="0">
              <a:buNone/>
            </a:pPr>
            <a:r>
              <a:rPr lang="en-US" sz="1050" b="1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metamavs/llm/client.py</a:t>
            </a:r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双后端分支 · token 下限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822960" y="46268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</a:t>
            </a:r>
            <a:pPr indent="0" marL="0">
              <a:buNone/>
            </a:pPr>
            <a:r>
              <a:rPr lang="en-US" sz="1050" b="1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llm_interpretation_agent.py</a:t>
            </a:r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真实模型归因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822960" y="4937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</a:t>
            </a:r>
            <a:pPr indent="0" marL="0">
              <a:buNone/>
            </a:pPr>
            <a:r>
              <a:rPr lang="en-US" sz="1050" b="1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metamavs/llm/__init__.py</a:t>
            </a:r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导出 active_model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822960" y="524865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</a:t>
            </a:r>
            <a:pPr indent="0" marL="0">
              <a:buNone/>
            </a:pPr>
            <a:r>
              <a:rPr lang="en-US" sz="1050" b="1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pyproject.toml</a:t>
            </a:r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加 openai&gt;=1.0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822960" y="555955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</a:t>
            </a:r>
            <a:pPr indent="0" marL="0">
              <a:buNone/>
            </a:pPr>
            <a:r>
              <a:rPr lang="en-US" sz="1050" b="1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LLM 后端与迁移说明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822960" y="58704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</a:t>
            </a:r>
            <a:pPr indent="0" marL="0">
              <a:buNone/>
            </a:pPr>
            <a:r>
              <a:rPr lang="en-US" sz="1050" b="1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MIGRATION_LOG / CALLSITES</a:t>
            </a:r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清单 + 迁移记录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6309360" y="3520440"/>
            <a:ext cx="5349240" cy="2743200"/>
          </a:xfrm>
          <a:prstGeom prst="rect">
            <a:avLst/>
          </a:prstGeom>
          <a:solidFill>
            <a:srgbClr val="0B1E39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40" name="Text 34"/>
          <p:cNvSpPr/>
          <p:nvPr/>
        </p:nvSpPr>
        <p:spPr>
          <a:xfrm>
            <a:off x="658368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端到端运行证据（相同数据）</a:t>
            </a:r>
            <a:endParaRPr lang="en-US" sz="1400" dirty="0"/>
          </a:p>
        </p:txBody>
      </p:sp>
      <p:sp>
        <p:nvSpPr>
          <p:cNvPr id="41" name="Text 35"/>
          <p:cNvSpPr/>
          <p:nvPr/>
        </p:nvSpPr>
        <p:spPr>
          <a:xfrm>
            <a:off x="6583680" y="41605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pPr indent="0" marL="0">
              <a:buNone/>
            </a:pPr>
            <a:r>
              <a:rPr lang="en-US" sz="980" dirty="0">
                <a:solidFill>
                  <a:srgbClr val="CF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ok (gemma:gemma-4-E2B-it): 1796 in, 1396 out, finish=stop</a:t>
            </a:r>
            <a:endParaRPr lang="en-US" sz="980" dirty="0"/>
          </a:p>
        </p:txBody>
      </p:sp>
      <p:sp>
        <p:nvSpPr>
          <p:cNvPr id="42" name="Text 36"/>
          <p:cNvSpPr/>
          <p:nvPr/>
        </p:nvSpPr>
        <p:spPr>
          <a:xfrm>
            <a:off x="6583680" y="44897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pPr indent="0" marL="0">
              <a:buNone/>
            </a:pPr>
            <a:r>
              <a:rPr lang="en-US" sz="980" dirty="0">
                <a:solidFill>
                  <a:srgbClr val="CF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Abundance: LLM trend interpretation generated</a:t>
            </a:r>
            <a:endParaRPr lang="en-US" sz="980" dirty="0"/>
          </a:p>
        </p:txBody>
      </p:sp>
      <p:sp>
        <p:nvSpPr>
          <p:cNvPr id="43" name="Text 37"/>
          <p:cNvSpPr/>
          <p:nvPr/>
        </p:nvSpPr>
        <p:spPr>
          <a:xfrm>
            <a:off x="6583680" y="48188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pPr indent="0" marL="0">
              <a:buNone/>
            </a:pPr>
            <a:r>
              <a:rPr lang="en-US" sz="980" dirty="0">
                <a:solidFill>
                  <a:srgbClr val="CF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Novel screening: LLM assessed 1 candidate(s)</a:t>
            </a:r>
            <a:endParaRPr lang="en-US" sz="980" dirty="0"/>
          </a:p>
        </p:txBody>
      </p:sp>
      <p:sp>
        <p:nvSpPr>
          <p:cNvPr id="44" name="Text 38"/>
          <p:cNvSpPr/>
          <p:nvPr/>
        </p:nvSpPr>
        <p:spPr>
          <a:xfrm>
            <a:off x="6583680" y="51480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pPr indent="0" marL="0">
              <a:buNone/>
            </a:pPr>
            <a:r>
              <a:rPr lang="en-US" sz="980" dirty="0">
                <a:solidFill>
                  <a:srgbClr val="CF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(llm): overall=High, review_required=True</a:t>
            </a:r>
            <a:endParaRPr lang="en-US" sz="980" dirty="0"/>
          </a:p>
        </p:txBody>
      </p:sp>
      <p:sp>
        <p:nvSpPr>
          <p:cNvPr id="45" name="Text 39"/>
          <p:cNvSpPr/>
          <p:nvPr/>
        </p:nvSpPr>
        <p:spPr>
          <a:xfrm>
            <a:off x="6583680" y="547725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pPr indent="0" marL="0">
              <a:buNone/>
            </a:pPr>
            <a:r>
              <a:rPr lang="en-US" sz="980" dirty="0">
                <a:solidFill>
                  <a:srgbClr val="CF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narrative written: intermediate/llm_narrative.md</a:t>
            </a:r>
            <a:endParaRPr lang="en-US" sz="980" dirty="0"/>
          </a:p>
        </p:txBody>
      </p:sp>
      <p:sp>
        <p:nvSpPr>
          <p:cNvPr id="46" name="Text 40"/>
          <p:cNvSpPr/>
          <p:nvPr/>
        </p:nvSpPr>
        <p:spPr>
          <a:xfrm>
            <a:off x="6583680" y="58064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pPr indent="0" marL="0">
              <a:buNone/>
            </a:pPr>
            <a:r>
              <a:rPr lang="en-US" sz="980" dirty="0">
                <a:solidFill>
                  <a:srgbClr val="CF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status=completed_with_warnings, overall_risk=High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HEAD-TO-HEAD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3035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同数据实测：判定一致，成本与速度差异显著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468112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63040"/>
            <a:ext cx="109728" cy="78638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1591056"/>
            <a:ext cx="530352" cy="530352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19072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81328" y="1572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Gemma 4 E2B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481328" y="1901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· llama-server · 免费私密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90488" y="1463040"/>
            <a:ext cx="5468112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90488" y="1463040"/>
            <a:ext cx="109728" cy="786384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6" name="Shape 13"/>
          <p:cNvSpPr/>
          <p:nvPr/>
        </p:nvSpPr>
        <p:spPr>
          <a:xfrm>
            <a:off x="6446520" y="1591056"/>
            <a:ext cx="530352" cy="530352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1719072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23176" y="1572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Opus 4.8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7123176" y="1901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云端 · 付费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13232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246120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GEMMA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62356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48640" y="2724912"/>
            <a:ext cx="7635240" cy="5349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0"/>
          <p:cNvSpPr/>
          <p:nvPr/>
        </p:nvSpPr>
        <p:spPr>
          <a:xfrm>
            <a:off x="713232" y="2724912"/>
            <a:ext cx="25146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风险判定 (overall)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3246120" y="2724912"/>
            <a:ext cx="23317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6E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5623560" y="2724912"/>
            <a:ext cx="24688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06A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548640" y="3259836"/>
            <a:ext cx="7635240" cy="534924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28" name="Text 24"/>
          <p:cNvSpPr/>
          <p:nvPr/>
        </p:nvSpPr>
        <p:spPr>
          <a:xfrm>
            <a:off x="713232" y="3259836"/>
            <a:ext cx="25146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 触发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3246120" y="3259836"/>
            <a:ext cx="23317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6E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5623560" y="3259836"/>
            <a:ext cx="24688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06A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548640" y="3794760"/>
            <a:ext cx="7635240" cy="5349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8"/>
          <p:cNvSpPr/>
          <p:nvPr/>
        </p:nvSpPr>
        <p:spPr>
          <a:xfrm>
            <a:off x="713232" y="3794760"/>
            <a:ext cx="25146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端到端墙钟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3246120" y="3794760"/>
            <a:ext cx="23317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6E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24 秒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5623560" y="3794760"/>
            <a:ext cx="24688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06A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55 秒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548640" y="4329684"/>
            <a:ext cx="7635240" cy="534924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36" name="Text 32"/>
          <p:cNvSpPr/>
          <p:nvPr/>
        </p:nvSpPr>
        <p:spPr>
          <a:xfrm>
            <a:off x="713232" y="4329684"/>
            <a:ext cx="25146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成本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3246120" y="4329684"/>
            <a:ext cx="23317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6E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0（本地）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5623560" y="4329684"/>
            <a:ext cx="24688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06A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按量付费</a:t>
            </a:r>
            <a:endParaRPr lang="en-US" sz="1250" dirty="0"/>
          </a:p>
        </p:txBody>
      </p:sp>
      <p:sp>
        <p:nvSpPr>
          <p:cNvPr id="39" name="Shape 35"/>
          <p:cNvSpPr/>
          <p:nvPr/>
        </p:nvSpPr>
        <p:spPr>
          <a:xfrm>
            <a:off x="548640" y="4864608"/>
            <a:ext cx="7635240" cy="5349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6"/>
          <p:cNvSpPr/>
          <p:nvPr/>
        </p:nvSpPr>
        <p:spPr>
          <a:xfrm>
            <a:off x="713232" y="4864608"/>
            <a:ext cx="25146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叙事字数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3246120" y="4864608"/>
            <a:ext cx="23317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6E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350 词</a:t>
            </a:r>
            <a:endParaRPr lang="en-US" sz="1250" dirty="0"/>
          </a:p>
        </p:txBody>
      </p:sp>
      <p:sp>
        <p:nvSpPr>
          <p:cNvPr id="42" name="Text 38"/>
          <p:cNvSpPr/>
          <p:nvPr/>
        </p:nvSpPr>
        <p:spPr>
          <a:xfrm>
            <a:off x="5623560" y="4864608"/>
            <a:ext cx="24688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06A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433 词</a:t>
            </a:r>
            <a:endParaRPr lang="en-US" sz="1250" dirty="0"/>
          </a:p>
        </p:txBody>
      </p:sp>
      <p:sp>
        <p:nvSpPr>
          <p:cNvPr id="43" name="Shape 39"/>
          <p:cNvSpPr/>
          <p:nvPr/>
        </p:nvSpPr>
        <p:spPr>
          <a:xfrm>
            <a:off x="548640" y="5399532"/>
            <a:ext cx="7635240" cy="534924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44" name="Text 40"/>
          <p:cNvSpPr/>
          <p:nvPr/>
        </p:nvSpPr>
        <p:spPr>
          <a:xfrm>
            <a:off x="713232" y="5399532"/>
            <a:ext cx="25146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token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3246120" y="5399532"/>
            <a:ext cx="23317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6E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较多(含推理)</a:t>
            </a:r>
            <a:endParaRPr lang="en-US" sz="1250" dirty="0"/>
          </a:p>
        </p:txBody>
      </p:sp>
      <p:sp>
        <p:nvSpPr>
          <p:cNvPr id="46" name="Text 42"/>
          <p:cNvSpPr/>
          <p:nvPr/>
        </p:nvSpPr>
        <p:spPr>
          <a:xfrm>
            <a:off x="5623560" y="5399532"/>
            <a:ext cx="24688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06A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较少</a:t>
            </a:r>
            <a:endParaRPr lang="en-US" sz="1250" dirty="0"/>
          </a:p>
        </p:txBody>
      </p:sp>
      <p:sp>
        <p:nvSpPr>
          <p:cNvPr id="47" name="Shape 43"/>
          <p:cNvSpPr/>
          <p:nvPr/>
        </p:nvSpPr>
        <p:spPr>
          <a:xfrm>
            <a:off x="8412480" y="2377440"/>
            <a:ext cx="3246120" cy="3566160"/>
          </a:xfrm>
          <a:prstGeom prst="rect">
            <a:avLst/>
          </a:prstGeom>
          <a:solidFill>
            <a:srgbClr val="0B1E39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48" name="Shape 44"/>
          <p:cNvSpPr/>
          <p:nvPr/>
        </p:nvSpPr>
        <p:spPr>
          <a:xfrm>
            <a:off x="8686800" y="2651760"/>
            <a:ext cx="548640" cy="54864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16" y="2779776"/>
            <a:ext cx="292608" cy="292608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932688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1500" dirty="0"/>
          </a:p>
        </p:txBody>
      </p:sp>
      <p:sp>
        <p:nvSpPr>
          <p:cNvPr id="51" name="Text 46"/>
          <p:cNvSpPr/>
          <p:nvPr/>
        </p:nvSpPr>
        <p:spPr>
          <a:xfrm>
            <a:off x="8686800" y="3364992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风险判定完全一致
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3E1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两模型都给出 High、都触发人工复核。Gemma 输出可用且科学审慎。</a:t>
            </a:r>
            <a:endParaRPr lang="en-US" sz="1400" dirty="0"/>
          </a:p>
        </p:txBody>
      </p:sp>
      <p:sp>
        <p:nvSpPr>
          <p:cNvPr id="52" name="Shape 47"/>
          <p:cNvSpPr/>
          <p:nvPr/>
        </p:nvSpPr>
        <p:spPr>
          <a:xfrm>
            <a:off x="8686800" y="4553712"/>
            <a:ext cx="2743200" cy="18288"/>
          </a:xfrm>
          <a:prstGeom prst="rect">
            <a:avLst/>
          </a:prstGeom>
          <a:solidFill>
            <a:srgbClr val="3A5578"/>
          </a:solidFill>
          <a:ln/>
        </p:spPr>
      </p:sp>
      <p:sp>
        <p:nvSpPr>
          <p:cNvPr id="53" name="Text 48"/>
          <p:cNvSpPr/>
          <p:nvPr/>
        </p:nvSpPr>
        <p:spPr>
          <a:xfrm>
            <a:off x="8686800" y="4709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差异在“质”不在“对错”
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3E1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更扎实、专业细节更足；Gemma 更快、免费、本地私密。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33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NUANCE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3035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输出质量细读：Claude 的专业“细微差别”更强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468112" cy="4800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63040"/>
            <a:ext cx="5468112" cy="640080"/>
          </a:xfrm>
          <a:prstGeom prst="rect">
            <a:avLst/>
          </a:prstGeom>
          <a:solidFill>
            <a:srgbClr val="0E9AA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" y="1664208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4630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Gemma 4 E2B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41248" y="23317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执行摘要（较泛化）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41248" y="2624328"/>
            <a:ext cx="5074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“检测到多个病毒序列信号…SARS-CoV-2、甲流、诺如，属人群高丰度排放。”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41248" y="35021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风险推理（正确但浅）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41248" y="3794760"/>
            <a:ext cx="5074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“匹配高风险清单 + 读数充足（6720 reads）→ High。”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41248" y="46725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未分类病毒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41248" y="4965192"/>
            <a:ext cx="5074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“非致病、非噬菌体病毒，上升趋势，建议监测。”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1248" y="5852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特点：判定可靠、语言审慎，但停留在要点层面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72200" y="1463040"/>
            <a:ext cx="5468112" cy="4800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72200" y="1463040"/>
            <a:ext cx="5468112" cy="640080"/>
          </a:xfrm>
          <a:prstGeom prst="rect">
            <a:avLst/>
          </a:prstGeom>
          <a:solidFill>
            <a:srgbClr val="E08A2B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64808" y="1664208"/>
            <a:ext cx="310896" cy="31089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949440" y="14630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Opus 4.8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464808" y="23317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执行摘要（扣住真实数据）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464808" y="2624328"/>
            <a:ext cx="5074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“4 个样本、两站点(site_A/B)、01-01 至 01-22 每周采样、Kraken2+DIAMOND 分类。”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464808" y="35021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风险推理（有层次）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464808" y="3794760"/>
            <a:ext cx="5074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“未标假阳性、趋势 stable 故 High 非 Critical；建议 RT-qPCR 确证。”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464808" y="46725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 caveat（Gemma 缺失）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464808" y="4965192"/>
            <a:ext cx="5074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“短读无法推断流感亚型；丰度本身不代表暴发；有限采样无法确认趋势。”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464808" y="5852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特点：读懂结构化数据，流行病学措辞更严谨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落地建议：平时 Gemma，关键时刻切 Claude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074920" cy="324612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20240"/>
            <a:ext cx="5074920" cy="10972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286000"/>
            <a:ext cx="603504" cy="603504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304" y="2432304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228600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默认用 Gemma（本地）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43000" y="30175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LLM_BACKEND=gemma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43000" y="345643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 </a:t>
            </a:r>
            <a:pPr indent="0" marL="0">
              <a:buNone/>
            </a:pPr>
            <a:r>
              <a:rPr lang="en-US" sz="1250" dirty="0">
                <a:solidFill>
                  <a:srgbClr val="D6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 / 批量 / dry-run 与常规监测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43000" y="39319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 </a:t>
            </a:r>
            <a:pPr indent="0" marL="0">
              <a:buNone/>
            </a:pPr>
            <a:r>
              <a:rPr lang="en-US" sz="1250" dirty="0">
                <a:solidFill>
                  <a:srgbClr val="D6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快（2×）、免费、本地私密、无网络依赖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43000" y="440740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 </a:t>
            </a:r>
            <a:pPr indent="0" marL="0">
              <a:buNone/>
            </a:pPr>
            <a:r>
              <a:rPr lang="en-US" sz="1250" dirty="0">
                <a:solidFill>
                  <a:srgbClr val="D6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风险判定可靠，输出科学审慎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55080" y="1920240"/>
            <a:ext cx="5074920" cy="324612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55080" y="1920240"/>
            <a:ext cx="5074920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6" name="Shape 13"/>
          <p:cNvSpPr/>
          <p:nvPr/>
        </p:nvSpPr>
        <p:spPr>
          <a:xfrm>
            <a:off x="6675120" y="2286000"/>
            <a:ext cx="603504" cy="603504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2432304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52360" y="228600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关键场景切 Claude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675120" y="30175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LLM_BACKEND=claude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675120" y="345643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 </a:t>
            </a:r>
            <a:pPr indent="0" marL="0">
              <a:buNone/>
            </a:pPr>
            <a:r>
              <a:rPr lang="en-US" sz="1250" dirty="0">
                <a:solidFill>
                  <a:srgbClr val="D6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对外报告、高风险事件、正式发布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675120" y="39319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 </a:t>
            </a:r>
            <a:pPr indent="0" marL="0">
              <a:buNone/>
            </a:pPr>
            <a:r>
              <a:rPr lang="en-US" sz="1250" dirty="0">
                <a:solidFill>
                  <a:srgbClr val="D6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需要严谨流行病学措辞与确证建议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675120" y="440740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 </a:t>
            </a:r>
            <a:pPr indent="0" marL="0">
              <a:buNone/>
            </a:pPr>
            <a:r>
              <a:rPr lang="en-US" sz="1250" dirty="0">
                <a:solidFill>
                  <a:srgbClr val="D6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专业细微差别与数据落地更到位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822960" y="5440680"/>
            <a:ext cx="10561320" cy="9601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4" name="Shape 20"/>
          <p:cNvSpPr/>
          <p:nvPr/>
        </p:nvSpPr>
        <p:spPr>
          <a:xfrm>
            <a:off x="1143000" y="56692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5779008"/>
            <a:ext cx="283464" cy="28346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828800" y="544068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迁移已完成并推送到新的 MetaMAVS 仓库。</a:t>
            </a:r>
            <a:pPr indent="0" marL="0">
              <a:buNone/>
            </a:pPr>
            <a:r>
              <a:rPr lang="en-US" sz="1400" dirty="0">
                <a:solidFill>
                  <a:srgbClr val="EAF7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开关保留，零代码即可回滚 —— 支持“分级使用”而非“二选一”。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MetaMAVS LLM 推理后端迁移</dc:title>
  <dc:subject>PptxGenJS Presentation</dc:subject>
  <dc:creator>MetaMAVS</dc:creator>
  <cp:lastModifiedBy>MetaMAVS</cp:lastModifiedBy>
  <cp:revision>1</cp:revision>
  <dcterms:created xsi:type="dcterms:W3CDTF">2026-07-10T00:51:36Z</dcterms:created>
  <dcterms:modified xsi:type="dcterms:W3CDTF">2026-07-10T00:51:36Z</dcterms:modified>
</cp:coreProperties>
</file>