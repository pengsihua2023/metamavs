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06240" cy="6858000"/>
          </a:xfrm>
          <a:prstGeom prst="rect">
            <a:avLst/>
          </a:prstGeom>
          <a:solidFill>
            <a:srgbClr val="13344A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82296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Shape 2"/>
          <p:cNvSpPr/>
          <p:nvPr/>
        </p:nvSpPr>
        <p:spPr>
          <a:xfrm>
            <a:off x="8732520" y="1417320"/>
            <a:ext cx="1325880" cy="1325880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990" y="1748790"/>
            <a:ext cx="662940" cy="6629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332720" y="2011680"/>
            <a:ext cx="822960" cy="822960"/>
          </a:xfrm>
          <a:prstGeom prst="oval">
            <a:avLst/>
          </a:prstGeom>
          <a:solidFill>
            <a:srgbClr val="2DD4BF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460" y="2217420"/>
            <a:ext cx="411480" cy="411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641080" y="3108960"/>
            <a:ext cx="868680" cy="868680"/>
          </a:xfrm>
          <a:prstGeom prst="oval">
            <a:avLst/>
          </a:prstGeom>
          <a:solidFill>
            <a:srgbClr val="F4A52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0" y="3326130"/>
            <a:ext cx="434340" cy="4343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921240" y="3383280"/>
            <a:ext cx="1005840" cy="1005840"/>
          </a:xfrm>
          <a:prstGeom prst="oval">
            <a:avLst/>
          </a:prstGeom>
          <a:solidFill>
            <a:srgbClr val="0B6E72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0" y="3634740"/>
            <a:ext cx="502920" cy="50292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66928" y="1554480"/>
            <a:ext cx="457200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7"/>
          <p:cNvSpPr/>
          <p:nvPr/>
        </p:nvSpPr>
        <p:spPr>
          <a:xfrm>
            <a:off x="566928" y="17830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UGA · VIRAL EPIDEMIOLOGY · BIOINFORMATICS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566928" y="2103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MetaMAVS</a:t>
            </a:r>
            <a:endParaRPr lang="en-US" sz="6200" dirty="0"/>
          </a:p>
        </p:txBody>
      </p:sp>
      <p:sp>
        <p:nvSpPr>
          <p:cNvPr id="15" name="Text 9"/>
          <p:cNvSpPr/>
          <p:nvPr/>
        </p:nvSpPr>
        <p:spPr>
          <a:xfrm>
            <a:off x="566928" y="32004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FE9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Metagenomic Multi-Agent Virus Surveillance System</a:t>
            </a:r>
            <a:endParaRPr lang="en-US" sz="2100" dirty="0"/>
          </a:p>
        </p:txBody>
      </p:sp>
      <p:sp>
        <p:nvSpPr>
          <p:cNvPr id="16" name="Text 10"/>
          <p:cNvSpPr/>
          <p:nvPr/>
        </p:nvSpPr>
        <p:spPr>
          <a:xfrm>
            <a:off x="566928" y="40690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LangGraph-based, stateful multi-agent workflow for viral surveillance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wastewater, environmental &amp; clinical metagenomic data.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66928" y="5394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Introduction  ·  Sihua Peng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57200"/>
            <a:ext cx="146304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MetaMAVS — the surveillance challenge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Metagenomic Multi-Agent Virus Surveillance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52852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783080"/>
            <a:ext cx="82296" cy="187452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" y="2093976"/>
            <a:ext cx="713232" cy="713232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272284"/>
            <a:ext cx="356616" cy="35661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55648" y="2093976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Complex, noisy data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755648" y="2569464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&amp; environmental metagenomes mix host, bacteria, phage and rare viral signals.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09360" y="1783080"/>
            <a:ext cx="52852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09360" y="1783080"/>
            <a:ext cx="82296" cy="187452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6" name="Shape 13"/>
          <p:cNvSpPr/>
          <p:nvPr/>
        </p:nvSpPr>
        <p:spPr>
          <a:xfrm>
            <a:off x="6601968" y="2093976"/>
            <a:ext cx="713232" cy="713232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276" y="2272284"/>
            <a:ext cx="356616" cy="35661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98080" y="2093976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Many manual steps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7498080" y="2569464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→ host removal → detection → taxonomy → abundance → novelty: easy to break, hard to reproduce.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66928" y="4069080"/>
            <a:ext cx="52852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66928" y="4069080"/>
            <a:ext cx="82296" cy="187452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22" name="Shape 18"/>
          <p:cNvSpPr/>
          <p:nvPr/>
        </p:nvSpPr>
        <p:spPr>
          <a:xfrm>
            <a:off x="859536" y="4379976"/>
            <a:ext cx="713232" cy="713232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4558284"/>
            <a:ext cx="356616" cy="35661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755648" y="4379976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of over-claiming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1755648" y="4855464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metagenomic hits can be mistaken for confirmed pathogens without careful flagging.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309360" y="4069080"/>
            <a:ext cx="52852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309360" y="4069080"/>
            <a:ext cx="82296" cy="187452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28" name="Shape 23"/>
          <p:cNvSpPr/>
          <p:nvPr/>
        </p:nvSpPr>
        <p:spPr>
          <a:xfrm>
            <a:off x="6601968" y="4379976"/>
            <a:ext cx="713232" cy="713232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276" y="4558284"/>
            <a:ext cx="356616" cy="35661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98080" y="4379976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coordination layer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7498080" y="4855464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pipelines lack decision logic, human review, and error handling across steps.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66928" y="608076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MetaMAVS combines a deterministic bioinformatics pipeline with AI multi-agent coordination.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57200"/>
            <a:ext cx="146304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MetaMAVS?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Metagenomic Multi-Agent Virus Surveillance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11027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research-grade system that processes metagenomic data, detects known &amp; potential viral signals, classifies them, tracks abundance trends, assesses epidemiological risk, and writes surveillance reports — orchestrated as a LangGraph state machine.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788920"/>
            <a:ext cx="337108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2788920"/>
            <a:ext cx="82296" cy="274320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1" name="Shape 9"/>
          <p:cNvSpPr/>
          <p:nvPr/>
        </p:nvSpPr>
        <p:spPr>
          <a:xfrm>
            <a:off x="932688" y="3154680"/>
            <a:ext cx="868680" cy="868680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858" y="3371850"/>
            <a:ext cx="434340" cy="4343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32688" y="4160520"/>
            <a:ext cx="263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Research-grade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32688" y="4663440"/>
            <a:ext cx="2639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Scientifically cautious — "detected signal", not "confirmed infection". Never overstates weak evidence.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95216" y="2788920"/>
            <a:ext cx="337108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95216" y="2788920"/>
            <a:ext cx="82296" cy="2743200"/>
          </a:xfrm>
          <a:prstGeom prst="rect">
            <a:avLst/>
          </a:prstGeom>
          <a:solidFill>
            <a:srgbClr val="F4A52A"/>
          </a:solidFill>
          <a:ln/>
        </p:spPr>
      </p:sp>
      <p:sp>
        <p:nvSpPr>
          <p:cNvPr id="17" name="Shape 14"/>
          <p:cNvSpPr/>
          <p:nvPr/>
        </p:nvSpPr>
        <p:spPr>
          <a:xfrm>
            <a:off x="4760976" y="3154680"/>
            <a:ext cx="868680" cy="868680"/>
          </a:xfrm>
          <a:prstGeom prst="oval">
            <a:avLst/>
          </a:prstGeom>
          <a:solidFill>
            <a:srgbClr val="F4A52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146" y="3371850"/>
            <a:ext cx="434340" cy="4343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760976" y="4160520"/>
            <a:ext cx="263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4760976" y="4663440"/>
            <a:ext cx="2639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sequential script — a LangGraph StateGraph with 12 agent nodes &amp; conditional routing.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223504" y="2788920"/>
            <a:ext cx="337108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23504" y="2788920"/>
            <a:ext cx="82296" cy="2743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Shape 19"/>
          <p:cNvSpPr/>
          <p:nvPr/>
        </p:nvSpPr>
        <p:spPr>
          <a:xfrm>
            <a:off x="8589264" y="3154680"/>
            <a:ext cx="868680" cy="868680"/>
          </a:xfrm>
          <a:prstGeom prst="oval">
            <a:avLst/>
          </a:prstGeom>
          <a:solidFill>
            <a:srgbClr val="2DD4BF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434" y="3371850"/>
            <a:ext cx="434340" cy="4343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589264" y="4160520"/>
            <a:ext cx="263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Evolvable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8589264" y="4663440"/>
            <a:ext cx="2639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fully deterministic; clean seams let LLM reasoning slot into nodes later.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57200"/>
            <a:ext cx="146304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design philosophy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Metagenomic Multi-Agent Virus Surveillance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11027664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783080"/>
            <a:ext cx="82296" cy="859536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1938528"/>
            <a:ext cx="548640" cy="548640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756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72768" y="18928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machine, not a script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961888" y="1892808"/>
            <a:ext cx="5449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routing, error diversion, human-in-the-loop, checkpointing — impossible in a flat script.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2752344"/>
            <a:ext cx="11027664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" y="2752344"/>
            <a:ext cx="82296" cy="859536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6" name="Shape 13"/>
          <p:cNvSpPr/>
          <p:nvPr/>
        </p:nvSpPr>
        <p:spPr>
          <a:xfrm>
            <a:off x="804672" y="2907792"/>
            <a:ext cx="548640" cy="548640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04495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72768" y="286207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shared state flows through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5961888" y="2862072"/>
            <a:ext cx="5449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returns a partial update; warnings/errors/log use add-reducers to append, never overwrite.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66928" y="3721608"/>
            <a:ext cx="11027664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66928" y="3721608"/>
            <a:ext cx="82296" cy="859536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22" name="Shape 18"/>
          <p:cNvSpPr/>
          <p:nvPr/>
        </p:nvSpPr>
        <p:spPr>
          <a:xfrm>
            <a:off x="804672" y="3877056"/>
            <a:ext cx="548640" cy="548640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014216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72768" y="383133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dependency centralized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5961888" y="3831336"/>
            <a:ext cx="5449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graph.py imports LangGraph; the 12 agents stay pure, testable functions.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66928" y="4690872"/>
            <a:ext cx="11027664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66928" y="4690872"/>
            <a:ext cx="82296" cy="859536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28" name="Shape 23"/>
          <p:cNvSpPr/>
          <p:nvPr/>
        </p:nvSpPr>
        <p:spPr>
          <a:xfrm>
            <a:off x="804672" y="4846320"/>
            <a:ext cx="548640" cy="548640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98348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572768" y="4800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Separation of concerns by layer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5961888" y="4800600"/>
            <a:ext cx="5449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(LangGraph) · nodes (agents) · utilities · data validation (pydantic) — clearly split.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566928" y="5660136"/>
            <a:ext cx="11027664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66928" y="5660136"/>
            <a:ext cx="82296" cy="859536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4" name="Shape 28"/>
          <p:cNvSpPr/>
          <p:nvPr/>
        </p:nvSpPr>
        <p:spPr>
          <a:xfrm>
            <a:off x="804672" y="5815584"/>
            <a:ext cx="548640" cy="548640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952744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572768" y="57698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Scientific caution is enforced</a:t>
            </a:r>
            <a:endParaRPr lang="en-US" sz="1550" dirty="0"/>
          </a:p>
        </p:txBody>
      </p:sp>
      <p:sp>
        <p:nvSpPr>
          <p:cNvPr id="37" name="Text 30"/>
          <p:cNvSpPr/>
          <p:nvPr/>
        </p:nvSpPr>
        <p:spPr>
          <a:xfrm>
            <a:off x="5961888" y="5769864"/>
            <a:ext cx="5449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Phages flagged separately, low-confidence marked, confirmatory testing recommended for high risk.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57200"/>
            <a:ext cx="146304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workflow at a glance — 12 nodes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Metagenomic Multi-Agent Virus Surveillance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25420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E8388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066544"/>
            <a:ext cx="457200" cy="457200"/>
          </a:xfrm>
          <a:prstGeom prst="oval">
            <a:avLst/>
          </a:prstGeom>
          <a:solidFill>
            <a:srgbClr val="0E8388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1874520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input_manager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328416" y="1874520"/>
            <a:ext cx="25420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E8388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2066544"/>
            <a:ext cx="457200" cy="457200"/>
          </a:xfrm>
          <a:prstGeom prst="oval">
            <a:avLst/>
          </a:prstGeom>
          <a:solidFill>
            <a:srgbClr val="0E8388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41648" y="1874520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qc_agent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89904" y="1874520"/>
            <a:ext cx="25420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E8388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2066544"/>
            <a:ext cx="457200" cy="457200"/>
          </a:xfrm>
          <a:prstGeom prst="oval">
            <a:avLst/>
          </a:prstGeom>
          <a:solidFill>
            <a:srgbClr val="0E8388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03136" y="1874520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host_removal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851392" y="1874520"/>
            <a:ext cx="25420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E8388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97696" y="2066544"/>
            <a:ext cx="457200" cy="457200"/>
          </a:xfrm>
          <a:prstGeom prst="oval">
            <a:avLst/>
          </a:prstGeom>
          <a:solidFill>
            <a:srgbClr val="0E8388"/>
          </a:solidFill>
          <a:ln/>
        </p:spPr>
      </p:sp>
      <p:sp>
        <p:nvSpPr>
          <p:cNvPr id="22" name="Text 20"/>
          <p:cNvSpPr/>
          <p:nvPr/>
        </p:nvSpPr>
        <p:spPr>
          <a:xfrm>
            <a:off x="8997696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64624" y="1874520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viral_detection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3026664"/>
            <a:ext cx="25420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E8388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218688"/>
            <a:ext cx="457200" cy="457200"/>
          </a:xfrm>
          <a:prstGeom prst="oval">
            <a:avLst/>
          </a:prstGeom>
          <a:solidFill>
            <a:srgbClr val="0E8388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3026664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taxonomy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328416" y="3026664"/>
            <a:ext cx="25420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E8388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0" y="3218688"/>
            <a:ext cx="457200" cy="457200"/>
          </a:xfrm>
          <a:prstGeom prst="oval">
            <a:avLst/>
          </a:prstGeom>
          <a:solidFill>
            <a:srgbClr val="0E8388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041648" y="3026664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abundance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089904" y="3026664"/>
            <a:ext cx="25420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E8388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36208" y="3218688"/>
            <a:ext cx="457200" cy="457200"/>
          </a:xfrm>
          <a:prstGeom prst="oval">
            <a:avLst/>
          </a:prstGeom>
          <a:solidFill>
            <a:srgbClr val="0E8388"/>
          </a:solidFill>
          <a:ln/>
        </p:spPr>
      </p:sp>
      <p:sp>
        <p:nvSpPr>
          <p:cNvPr id="34" name="Text 32"/>
          <p:cNvSpPr/>
          <p:nvPr/>
        </p:nvSpPr>
        <p:spPr>
          <a:xfrm>
            <a:off x="623620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03136" y="3026664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novel_virus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851392" y="3026664"/>
            <a:ext cx="25420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F4A52A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997696" y="3218688"/>
            <a:ext cx="457200" cy="457200"/>
          </a:xfrm>
          <a:prstGeom prst="oval">
            <a:avLst/>
          </a:prstGeom>
          <a:solidFill>
            <a:srgbClr val="F4A52A"/>
          </a:solidFill>
          <a:ln/>
        </p:spPr>
      </p:sp>
      <p:sp>
        <p:nvSpPr>
          <p:cNvPr id="38" name="Text 36"/>
          <p:cNvSpPr/>
          <p:nvPr/>
        </p:nvSpPr>
        <p:spPr>
          <a:xfrm>
            <a:off x="8997696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564624" y="3026664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risk_assessment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66928" y="4178808"/>
            <a:ext cx="25420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3232" y="4370832"/>
            <a:ext cx="457200" cy="457200"/>
          </a:xfrm>
          <a:prstGeom prst="oval">
            <a:avLst/>
          </a:prstGeom>
          <a:solidFill>
            <a:srgbClr val="2DD4BF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280160" y="4178808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human_review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3328416" y="4178808"/>
            <a:ext cx="25420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3344A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474720" y="4370832"/>
            <a:ext cx="457200" cy="457200"/>
          </a:xfrm>
          <a:prstGeom prst="oval">
            <a:avLst/>
          </a:prstGeom>
          <a:solidFill>
            <a:srgbClr val="13344A"/>
          </a:solidFill>
          <a:ln/>
        </p:spPr>
      </p:sp>
      <p:sp>
        <p:nvSpPr>
          <p:cNvPr id="46" name="Text 44"/>
          <p:cNvSpPr/>
          <p:nvPr/>
        </p:nvSpPr>
        <p:spPr>
          <a:xfrm>
            <a:off x="347472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041648" y="4178808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report_writer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6089904" y="4178808"/>
            <a:ext cx="25420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3344A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36208" y="4370832"/>
            <a:ext cx="457200" cy="457200"/>
          </a:xfrm>
          <a:prstGeom prst="oval">
            <a:avLst/>
          </a:prstGeom>
          <a:solidFill>
            <a:srgbClr val="13344A"/>
          </a:solidFill>
          <a:ln/>
        </p:spPr>
      </p:sp>
      <p:sp>
        <p:nvSpPr>
          <p:cNvPr id="50" name="Text 48"/>
          <p:cNvSpPr/>
          <p:nvPr/>
        </p:nvSpPr>
        <p:spPr>
          <a:xfrm>
            <a:off x="6236208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803136" y="4178808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final_summary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8851392" y="4178808"/>
            <a:ext cx="25420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5614C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997696" y="4370832"/>
            <a:ext cx="457200" cy="457200"/>
          </a:xfrm>
          <a:prstGeom prst="oval">
            <a:avLst/>
          </a:prstGeom>
          <a:solidFill>
            <a:srgbClr val="E5614C"/>
          </a:solidFill>
          <a:ln/>
        </p:spPr>
      </p:sp>
      <p:sp>
        <p:nvSpPr>
          <p:cNvPr id="54" name="Text 52"/>
          <p:cNvSpPr/>
          <p:nvPr/>
        </p:nvSpPr>
        <p:spPr>
          <a:xfrm>
            <a:off x="8997696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564624" y="4178808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error_handler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566928" y="5468112"/>
            <a:ext cx="182880" cy="182880"/>
          </a:xfrm>
          <a:prstGeom prst="oval">
            <a:avLst/>
          </a:prstGeom>
          <a:solidFill>
            <a:srgbClr val="0E8388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5404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analysis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715768" y="5468112"/>
            <a:ext cx="182880" cy="182880"/>
          </a:xfrm>
          <a:prstGeom prst="oval">
            <a:avLst/>
          </a:prstGeom>
          <a:solidFill>
            <a:srgbClr val="F4A52A"/>
          </a:solidFill>
          <a:ln/>
        </p:spPr>
      </p:sp>
      <p:sp>
        <p:nvSpPr>
          <p:cNvPr id="59" name="Text 57"/>
          <p:cNvSpPr/>
          <p:nvPr/>
        </p:nvSpPr>
        <p:spPr>
          <a:xfrm>
            <a:off x="2971800" y="5404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864608" y="5468112"/>
            <a:ext cx="182880" cy="182880"/>
          </a:xfrm>
          <a:prstGeom prst="oval">
            <a:avLst/>
          </a:prstGeom>
          <a:solidFill>
            <a:srgbClr val="2DD4BF"/>
          </a:solidFill>
          <a:ln/>
        </p:spPr>
      </p:sp>
      <p:sp>
        <p:nvSpPr>
          <p:cNvPr id="61" name="Text 59"/>
          <p:cNvSpPr/>
          <p:nvPr/>
        </p:nvSpPr>
        <p:spPr>
          <a:xfrm>
            <a:off x="5120640" y="5404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013448" y="5468112"/>
            <a:ext cx="182880" cy="182880"/>
          </a:xfrm>
          <a:prstGeom prst="oval">
            <a:avLst/>
          </a:prstGeom>
          <a:solidFill>
            <a:srgbClr val="13344A"/>
          </a:solidFill>
          <a:ln/>
        </p:spPr>
      </p:sp>
      <p:sp>
        <p:nvSpPr>
          <p:cNvPr id="63" name="Text 61"/>
          <p:cNvSpPr/>
          <p:nvPr/>
        </p:nvSpPr>
        <p:spPr>
          <a:xfrm>
            <a:off x="7269480" y="5404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summary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162288" y="5468112"/>
            <a:ext cx="182880" cy="182880"/>
          </a:xfrm>
          <a:prstGeom prst="oval">
            <a:avLst/>
          </a:prstGeom>
          <a:solidFill>
            <a:srgbClr val="E5614C"/>
          </a:solidFill>
          <a:ln/>
        </p:spPr>
      </p:sp>
      <p:sp>
        <p:nvSpPr>
          <p:cNvPr id="65" name="Text 63"/>
          <p:cNvSpPr/>
          <p:nvPr/>
        </p:nvSpPr>
        <p:spPr>
          <a:xfrm>
            <a:off x="9418320" y="5404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guard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66928" y="58978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input_manager → … → risk_assessment → (review?) → report_writer → final_summary → END.  Any node can divert to error_handler.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57200"/>
            <a:ext cx="146304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each node does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Metagenomic Multi-Agent Virus Surveillance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34930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691640"/>
            <a:ext cx="82296" cy="102412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" y="1874520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997964"/>
            <a:ext cx="246888" cy="2468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89888" y="181965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input_manager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6384" y="2221992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manifest &amp; metadata; emit a clean validated_manifest.csv.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34256" y="1691640"/>
            <a:ext cx="34930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34256" y="1691640"/>
            <a:ext cx="82296" cy="102412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6" name="Shape 13"/>
          <p:cNvSpPr/>
          <p:nvPr/>
        </p:nvSpPr>
        <p:spPr>
          <a:xfrm>
            <a:off x="4535424" y="1874520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868" y="1997964"/>
            <a:ext cx="246888" cy="2468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57216" y="181965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qc_agent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53712" y="2221992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FastQC/fastp/MultiQC commands; per-sample pass/fail.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01584" y="1691640"/>
            <a:ext cx="34930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01584" y="1691640"/>
            <a:ext cx="82296" cy="102412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22" name="Shape 18"/>
          <p:cNvSpPr/>
          <p:nvPr/>
        </p:nvSpPr>
        <p:spPr>
          <a:xfrm>
            <a:off x="8302752" y="1874520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196" y="1997964"/>
            <a:ext cx="246888" cy="2468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924544" y="181965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host_removal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321040" y="2221992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Bowtie2/BWA/minimap2 commands; track non-host reads.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66928" y="2825496"/>
            <a:ext cx="34930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66928" y="2825496"/>
            <a:ext cx="82296" cy="102412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28" name="Shape 23"/>
          <p:cNvSpPr/>
          <p:nvPr/>
        </p:nvSpPr>
        <p:spPr>
          <a:xfrm>
            <a:off x="768096" y="3008376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3131820"/>
            <a:ext cx="246888" cy="2468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89888" y="295351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viral_detection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86384" y="3355848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Kraken2/DIAMOND etc. commands; produce raw hits + candidate taxa.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334256" y="2825496"/>
            <a:ext cx="34930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334256" y="2825496"/>
            <a:ext cx="82296" cy="102412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4" name="Shape 28"/>
          <p:cNvSpPr/>
          <p:nvPr/>
        </p:nvSpPr>
        <p:spPr>
          <a:xfrm>
            <a:off x="4535424" y="3008376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8868" y="3131820"/>
            <a:ext cx="246888" cy="24688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57216" y="295351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taxonomy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4553712" y="3355848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taxa; flag phage / false-positive / low-complexity.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8101584" y="2825496"/>
            <a:ext cx="34930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101584" y="2825496"/>
            <a:ext cx="82296" cy="102412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40" name="Shape 33"/>
          <p:cNvSpPr/>
          <p:nvPr/>
        </p:nvSpPr>
        <p:spPr>
          <a:xfrm>
            <a:off x="8302752" y="3008376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196" y="3131820"/>
            <a:ext cx="246888" cy="24688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924544" y="295351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abundance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8321040" y="3355848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&amp; genome-length normalization; cross-sample time trends.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566928" y="3959352"/>
            <a:ext cx="34930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566928" y="3959352"/>
            <a:ext cx="82296" cy="102412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46" name="Shape 38"/>
          <p:cNvSpPr/>
          <p:nvPr/>
        </p:nvSpPr>
        <p:spPr>
          <a:xfrm>
            <a:off x="768096" y="4142232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" y="4265676"/>
            <a:ext cx="246888" cy="246888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389888" y="4087368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novel_virus</a:t>
            </a:r>
            <a:endParaRPr lang="en-US" sz="1300" dirty="0"/>
          </a:p>
        </p:txBody>
      </p:sp>
      <p:sp>
        <p:nvSpPr>
          <p:cNvPr id="49" name="Text 40"/>
          <p:cNvSpPr/>
          <p:nvPr/>
        </p:nvSpPr>
        <p:spPr>
          <a:xfrm>
            <a:off x="786384" y="4489704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+ VirSorter2/CheckV; surface novel/divergent candidates.</a:t>
            </a:r>
            <a:endParaRPr lang="en-US" sz="1050" dirty="0"/>
          </a:p>
        </p:txBody>
      </p:sp>
      <p:sp>
        <p:nvSpPr>
          <p:cNvPr id="50" name="Shape 41"/>
          <p:cNvSpPr/>
          <p:nvPr/>
        </p:nvSpPr>
        <p:spPr>
          <a:xfrm>
            <a:off x="4334256" y="3959352"/>
            <a:ext cx="34930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4334256" y="3959352"/>
            <a:ext cx="82296" cy="102412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52" name="Shape 43"/>
          <p:cNvSpPr/>
          <p:nvPr/>
        </p:nvSpPr>
        <p:spPr>
          <a:xfrm>
            <a:off x="4535424" y="4142232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868" y="4265676"/>
            <a:ext cx="246888" cy="24688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5157216" y="4087368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risk_assessment</a:t>
            </a:r>
            <a:endParaRPr lang="en-US" sz="1300" dirty="0"/>
          </a:p>
        </p:txBody>
      </p:sp>
      <p:sp>
        <p:nvSpPr>
          <p:cNvPr id="55" name="Text 45"/>
          <p:cNvSpPr/>
          <p:nvPr/>
        </p:nvSpPr>
        <p:spPr>
          <a:xfrm>
            <a:off x="4553712" y="4489704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evidence → Low/Medium/High/Critical; set review flag.</a:t>
            </a:r>
            <a:endParaRPr lang="en-US" sz="1050" dirty="0"/>
          </a:p>
        </p:txBody>
      </p:sp>
      <p:sp>
        <p:nvSpPr>
          <p:cNvPr id="56" name="Shape 46"/>
          <p:cNvSpPr/>
          <p:nvPr/>
        </p:nvSpPr>
        <p:spPr>
          <a:xfrm>
            <a:off x="8101584" y="3959352"/>
            <a:ext cx="34930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57" name="Shape 47"/>
          <p:cNvSpPr/>
          <p:nvPr/>
        </p:nvSpPr>
        <p:spPr>
          <a:xfrm>
            <a:off x="8101584" y="3959352"/>
            <a:ext cx="82296" cy="102412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58" name="Shape 48"/>
          <p:cNvSpPr/>
          <p:nvPr/>
        </p:nvSpPr>
        <p:spPr>
          <a:xfrm>
            <a:off x="8302752" y="4142232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6196" y="4265676"/>
            <a:ext cx="246888" cy="246888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8924544" y="4087368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human_review</a:t>
            </a:r>
            <a:endParaRPr lang="en-US" sz="1300" dirty="0"/>
          </a:p>
        </p:txBody>
      </p:sp>
      <p:sp>
        <p:nvSpPr>
          <p:cNvPr id="61" name="Text 50"/>
          <p:cNvSpPr/>
          <p:nvPr/>
        </p:nvSpPr>
        <p:spPr>
          <a:xfrm>
            <a:off x="8321040" y="4489704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checkpoint on high risk (auto-approve in dry-run).</a:t>
            </a:r>
            <a:endParaRPr lang="en-US" sz="1050" dirty="0"/>
          </a:p>
        </p:txBody>
      </p:sp>
      <p:sp>
        <p:nvSpPr>
          <p:cNvPr id="62" name="Shape 51"/>
          <p:cNvSpPr/>
          <p:nvPr/>
        </p:nvSpPr>
        <p:spPr>
          <a:xfrm>
            <a:off x="566928" y="5093208"/>
            <a:ext cx="34930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63" name="Shape 52"/>
          <p:cNvSpPr/>
          <p:nvPr/>
        </p:nvSpPr>
        <p:spPr>
          <a:xfrm>
            <a:off x="566928" y="5093208"/>
            <a:ext cx="82296" cy="102412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64" name="Shape 53"/>
          <p:cNvSpPr/>
          <p:nvPr/>
        </p:nvSpPr>
        <p:spPr>
          <a:xfrm>
            <a:off x="768096" y="5276088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40" y="5399532"/>
            <a:ext cx="246888" cy="246888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1389888" y="5221224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report_writer</a:t>
            </a:r>
            <a:endParaRPr lang="en-US" sz="1300" dirty="0"/>
          </a:p>
        </p:txBody>
      </p:sp>
      <p:sp>
        <p:nvSpPr>
          <p:cNvPr id="67" name="Text 55"/>
          <p:cNvSpPr/>
          <p:nvPr/>
        </p:nvSpPr>
        <p:spPr>
          <a:xfrm>
            <a:off x="786384" y="5623560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Markdown + HTML surveillance report.</a:t>
            </a:r>
            <a:endParaRPr lang="en-US" sz="1050" dirty="0"/>
          </a:p>
        </p:txBody>
      </p:sp>
      <p:sp>
        <p:nvSpPr>
          <p:cNvPr id="68" name="Shape 56"/>
          <p:cNvSpPr/>
          <p:nvPr/>
        </p:nvSpPr>
        <p:spPr>
          <a:xfrm>
            <a:off x="4334256" y="5093208"/>
            <a:ext cx="34930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69" name="Shape 57"/>
          <p:cNvSpPr/>
          <p:nvPr/>
        </p:nvSpPr>
        <p:spPr>
          <a:xfrm>
            <a:off x="4334256" y="5093208"/>
            <a:ext cx="82296" cy="102412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70" name="Shape 58"/>
          <p:cNvSpPr/>
          <p:nvPr/>
        </p:nvSpPr>
        <p:spPr>
          <a:xfrm>
            <a:off x="4535424" y="5276088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7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8868" y="5399532"/>
            <a:ext cx="246888" cy="246888"/>
          </a:xfrm>
          <a:prstGeom prst="rect">
            <a:avLst/>
          </a:prstGeom>
        </p:spPr>
      </p:pic>
      <p:sp>
        <p:nvSpPr>
          <p:cNvPr id="72" name="Text 59"/>
          <p:cNvSpPr/>
          <p:nvPr/>
        </p:nvSpPr>
        <p:spPr>
          <a:xfrm>
            <a:off x="5157216" y="5221224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final_summary</a:t>
            </a:r>
            <a:endParaRPr lang="en-US" sz="1300" dirty="0"/>
          </a:p>
        </p:txBody>
      </p:sp>
      <p:sp>
        <p:nvSpPr>
          <p:cNvPr id="73" name="Text 60"/>
          <p:cNvSpPr/>
          <p:nvPr/>
        </p:nvSpPr>
        <p:spPr>
          <a:xfrm>
            <a:off x="4553712" y="5623560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summary, report paths, persist state.json.</a:t>
            </a:r>
            <a:endParaRPr lang="en-US" sz="1050" dirty="0"/>
          </a:p>
        </p:txBody>
      </p:sp>
      <p:sp>
        <p:nvSpPr>
          <p:cNvPr id="74" name="Shape 61"/>
          <p:cNvSpPr/>
          <p:nvPr/>
        </p:nvSpPr>
        <p:spPr>
          <a:xfrm>
            <a:off x="8101584" y="5093208"/>
            <a:ext cx="349300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75" name="Shape 62"/>
          <p:cNvSpPr/>
          <p:nvPr/>
        </p:nvSpPr>
        <p:spPr>
          <a:xfrm>
            <a:off x="8101584" y="5093208"/>
            <a:ext cx="82296" cy="102412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76" name="Shape 63"/>
          <p:cNvSpPr/>
          <p:nvPr/>
        </p:nvSpPr>
        <p:spPr>
          <a:xfrm>
            <a:off x="8302752" y="5276088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7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6196" y="5399532"/>
            <a:ext cx="246888" cy="246888"/>
          </a:xfrm>
          <a:prstGeom prst="rect">
            <a:avLst/>
          </a:prstGeom>
        </p:spPr>
      </p:pic>
      <p:sp>
        <p:nvSpPr>
          <p:cNvPr id="78" name="Text 64"/>
          <p:cNvSpPr/>
          <p:nvPr/>
        </p:nvSpPr>
        <p:spPr>
          <a:xfrm>
            <a:off x="8924544" y="5221224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error_handler</a:t>
            </a:r>
            <a:endParaRPr lang="en-US" sz="1300" dirty="0"/>
          </a:p>
        </p:txBody>
      </p:sp>
      <p:sp>
        <p:nvSpPr>
          <p:cNvPr id="79" name="Text 65"/>
          <p:cNvSpPr/>
          <p:nvPr/>
        </p:nvSpPr>
        <p:spPr>
          <a:xfrm>
            <a:off x="8321040" y="5623560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errors, decide continue/stop, prevent silent failure.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57200"/>
            <a:ext cx="146304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routing, human review &amp; error handling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Metagenomic Multi-Agent Virus Surveillance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24688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4A52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468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risk_assessment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44368" y="2788920"/>
            <a:ext cx="548640" cy="274320"/>
          </a:xfrm>
          <a:prstGeom prst="rightArrow">
            <a:avLst/>
          </a:prstGeom>
          <a:solidFill>
            <a:srgbClr val="556675"/>
          </a:solidFill>
          <a:ln/>
        </p:spPr>
      </p:sp>
      <p:sp>
        <p:nvSpPr>
          <p:cNvPr id="11" name="Shape 9"/>
          <p:cNvSpPr/>
          <p:nvPr/>
        </p:nvSpPr>
        <p:spPr>
          <a:xfrm>
            <a:off x="3749040" y="2331720"/>
            <a:ext cx="2194560" cy="1188720"/>
          </a:xfrm>
          <a:prstGeom prst="roundRect">
            <a:avLst>
              <a:gd name="adj" fmla="val 7692"/>
            </a:avLst>
          </a:prstGeom>
          <a:solidFill>
            <a:srgbClr val="13344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2331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review_router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required?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2121408"/>
            <a:ext cx="777240" cy="237744"/>
          </a:xfrm>
          <a:prstGeom prst="rightArrow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1828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6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178308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2DD4BF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783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human_review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35040" y="3246120"/>
            <a:ext cx="777240" cy="237744"/>
          </a:xfrm>
          <a:prstGeom prst="rightArrow">
            <a:avLst/>
          </a:prstGeom>
          <a:solidFill>
            <a:srgbClr val="0E8388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34564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310896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3108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report_writer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909560" y="2651760"/>
            <a:ext cx="274320" cy="457200"/>
          </a:xfrm>
          <a:prstGeom prst="downArrow">
            <a:avLst/>
          </a:prstGeom>
          <a:solidFill>
            <a:srgbClr val="556675"/>
          </a:solidFill>
          <a:ln/>
        </p:spPr>
      </p:sp>
      <p:sp>
        <p:nvSpPr>
          <p:cNvPr id="22" name="Shape 20"/>
          <p:cNvSpPr/>
          <p:nvPr/>
        </p:nvSpPr>
        <p:spPr>
          <a:xfrm>
            <a:off x="9235440" y="3429000"/>
            <a:ext cx="320040" cy="237744"/>
          </a:xfrm>
          <a:prstGeom prst="rightArrow">
            <a:avLst/>
          </a:prstGeom>
          <a:solidFill>
            <a:srgbClr val="556675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0" y="310896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3344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0" y="31089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final_summary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4343400"/>
            <a:ext cx="5029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" y="4343400"/>
            <a:ext cx="82296" cy="1783080"/>
          </a:xfrm>
          <a:prstGeom prst="rect">
            <a:avLst/>
          </a:prstGeom>
          <a:solidFill>
            <a:srgbClr val="F4A52A"/>
          </a:solidFill>
          <a:ln/>
        </p:spPr>
      </p:sp>
      <p:sp>
        <p:nvSpPr>
          <p:cNvPr id="27" name="Shape 25"/>
          <p:cNvSpPr/>
          <p:nvPr/>
        </p:nvSpPr>
        <p:spPr>
          <a:xfrm>
            <a:off x="804672" y="4553712"/>
            <a:ext cx="512064" cy="512064"/>
          </a:xfrm>
          <a:prstGeom prst="oval">
            <a:avLst/>
          </a:prstGeom>
          <a:solidFill>
            <a:srgbClr val="F4A52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681728"/>
            <a:ext cx="256032" cy="25603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435608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is triggered when…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435608" y="4956048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risk is High or Critical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/ divergent virus candidates exist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fails QC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852160" y="4343400"/>
            <a:ext cx="57424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852160" y="4343400"/>
            <a:ext cx="82296" cy="1783080"/>
          </a:xfrm>
          <a:prstGeom prst="rect">
            <a:avLst/>
          </a:prstGeom>
          <a:solidFill>
            <a:srgbClr val="E5614C"/>
          </a:solidFill>
          <a:ln/>
        </p:spPr>
      </p:sp>
      <p:sp>
        <p:nvSpPr>
          <p:cNvPr id="33" name="Shape 30"/>
          <p:cNvSpPr/>
          <p:nvPr/>
        </p:nvSpPr>
        <p:spPr>
          <a:xfrm>
            <a:off x="6089904" y="4553712"/>
            <a:ext cx="512064" cy="512064"/>
          </a:xfrm>
          <a:prstGeom prst="oval">
            <a:avLst/>
          </a:prstGeom>
          <a:solidFill>
            <a:srgbClr val="E5614C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681728"/>
            <a:ext cx="256032" cy="25603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72084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handling (any node)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6720840" y="495604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error → error_handler classifies severity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→ best-effort report; fatal → safe stop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errors logged — no silent failures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57200"/>
            <a:ext cx="146304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state: one structure flows through all nodes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Metagenomic Multi-Agent Virus Surveillance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55778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783080"/>
            <a:ext cx="82296" cy="429768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0" name="Shape 8"/>
          <p:cNvSpPr/>
          <p:nvPr/>
        </p:nvSpPr>
        <p:spPr>
          <a:xfrm>
            <a:off x="877824" y="2057400"/>
            <a:ext cx="731520" cy="731520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4028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55648" y="21214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MetaMAVSState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755648" y="25420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TypedDict every node reads &amp; partially updates.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32688" y="32004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fields: last-write-wins (LangGraph default)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/ errors / execution_log use add-reducers</a:t>
            </a:r>
            <a:endParaRPr lang="en-US" sz="13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each node returns only its NEW items; appended automatically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create_initial_state() seeds sensible defaults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global state — everything is explicit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0" y="1783080"/>
            <a:ext cx="5193792" cy="4297680"/>
          </a:xfrm>
          <a:prstGeom prst="rect">
            <a:avLst/>
          </a:prstGeom>
          <a:solidFill>
            <a:srgbClr val="0C2233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0" y="1783080"/>
            <a:ext cx="5193792" cy="411480"/>
          </a:xfrm>
          <a:prstGeom prst="rect">
            <a:avLst/>
          </a:prstGeom>
          <a:solidFill>
            <a:srgbClr val="13344A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state.py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629400" y="2377440"/>
            <a:ext cx="491947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AD9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MetaMAVSState(TypedDict, total=False):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config: dict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run_id: str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qc_pass_fail: dict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risk_summary: dict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review_required: bool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markdown_report_path: str | None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4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warnings:  Annotated[list, add]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4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errors:    Annotated[list, add]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4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execution_log: Annotated[list, add]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workflow_status: str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57200"/>
            <a:ext cx="146304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&amp; layering — LangGraph is the only framework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Metagenomic Multi-Agent Virus Surveillance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70408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783080"/>
            <a:ext cx="82296" cy="84124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" y="1929384"/>
            <a:ext cx="548640" cy="548640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066544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27048" y="18745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 / Framework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224528" y="18745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— nodes, conditional edges, checkpoint, HITL, error routing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2752344"/>
            <a:ext cx="70408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" y="2752344"/>
            <a:ext cx="82296" cy="841248"/>
          </a:xfrm>
          <a:prstGeom prst="rect">
            <a:avLst/>
          </a:prstGeom>
          <a:solidFill>
            <a:srgbClr val="F4A52A"/>
          </a:solidFill>
          <a:ln/>
        </p:spPr>
      </p:sp>
      <p:sp>
        <p:nvSpPr>
          <p:cNvPr id="16" name="Shape 13"/>
          <p:cNvSpPr/>
          <p:nvPr/>
        </p:nvSpPr>
        <p:spPr>
          <a:xfrm>
            <a:off x="786384" y="2898648"/>
            <a:ext cx="548640" cy="548640"/>
          </a:xfrm>
          <a:prstGeom prst="oval">
            <a:avLst/>
          </a:prstGeom>
          <a:solidFill>
            <a:srgbClr val="F4A52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3580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27048" y="28437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 / Business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224528" y="284378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agents/*.py — 12 agents, pure functions (state) → partial dict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66928" y="3721608"/>
            <a:ext cx="70408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66928" y="3721608"/>
            <a:ext cx="82296" cy="841248"/>
          </a:xfrm>
          <a:prstGeom prst="rect">
            <a:avLst/>
          </a:prstGeom>
          <a:solidFill>
            <a:srgbClr val="13344A"/>
          </a:solidFill>
          <a:ln/>
        </p:spPr>
      </p:sp>
      <p:sp>
        <p:nvSpPr>
          <p:cNvPr id="22" name="Shape 18"/>
          <p:cNvSpPr/>
          <p:nvPr/>
        </p:nvSpPr>
        <p:spPr>
          <a:xfrm>
            <a:off x="786384" y="3867912"/>
            <a:ext cx="548640" cy="548640"/>
          </a:xfrm>
          <a:prstGeom prst="oval">
            <a:avLst/>
          </a:prstGeom>
          <a:solidFill>
            <a:srgbClr val="13344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00507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27048" y="381304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Utility / Infrastructure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4224528" y="381304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· files · command_runner · taxonomy · report rendering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66928" y="4690872"/>
            <a:ext cx="70408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66928" y="4690872"/>
            <a:ext cx="82296" cy="8412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8" name="Shape 23"/>
          <p:cNvSpPr/>
          <p:nvPr/>
        </p:nvSpPr>
        <p:spPr>
          <a:xfrm>
            <a:off x="786384" y="4837176"/>
            <a:ext cx="548640" cy="548640"/>
          </a:xfrm>
          <a:prstGeom prst="oval">
            <a:avLst/>
          </a:prstGeom>
          <a:solidFill>
            <a:srgbClr val="2DD4BF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974336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527048" y="4782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validation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4224528" y="478231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 + schemas.py (pydantic) — validates config &amp; manifest only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863840" y="1783080"/>
            <a:ext cx="373075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863840" y="1783080"/>
            <a:ext cx="3730752" cy="457200"/>
          </a:xfrm>
          <a:prstGeom prst="rect">
            <a:avLst/>
          </a:prstGeom>
          <a:solidFill>
            <a:srgbClr val="0C2233"/>
          </a:solidFill>
          <a:ln/>
        </p:spPr>
      </p:sp>
      <p:sp>
        <p:nvSpPr>
          <p:cNvPr id="34" name="Text 28"/>
          <p:cNvSpPr/>
          <p:nvPr/>
        </p:nvSpPr>
        <p:spPr>
          <a:xfrm>
            <a:off x="8046720" y="1783080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Library roles</a:t>
            </a:r>
            <a:endParaRPr lang="en-US" sz="1350" dirty="0"/>
          </a:p>
        </p:txBody>
      </p:sp>
      <p:sp>
        <p:nvSpPr>
          <p:cNvPr id="35" name="Shape 29"/>
          <p:cNvSpPr/>
          <p:nvPr/>
        </p:nvSpPr>
        <p:spPr>
          <a:xfrm>
            <a:off x="8065008" y="2432304"/>
            <a:ext cx="118872" cy="118872"/>
          </a:xfrm>
          <a:prstGeom prst="oval">
            <a:avLst/>
          </a:prstGeom>
          <a:solidFill>
            <a:srgbClr val="0E8388"/>
          </a:solidFill>
          <a:ln/>
        </p:spPr>
      </p:sp>
      <p:sp>
        <p:nvSpPr>
          <p:cNvPr id="36" name="Text 30"/>
          <p:cNvSpPr/>
          <p:nvPr/>
        </p:nvSpPr>
        <p:spPr>
          <a:xfrm>
            <a:off x="8275320" y="234086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</a:t>
            </a:r>
            <a:pPr indent="0" marL="0">
              <a:buNone/>
            </a:pPr>
            <a:r>
              <a:rPr lang="en-US" sz="11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framework ✔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8065008" y="2889504"/>
            <a:ext cx="118872" cy="118872"/>
          </a:xfrm>
          <a:prstGeom prst="oval">
            <a:avLst/>
          </a:prstGeom>
          <a:solidFill>
            <a:srgbClr val="556675"/>
          </a:solidFill>
          <a:ln/>
        </p:spPr>
      </p:sp>
      <p:sp>
        <p:nvSpPr>
          <p:cNvPr id="38" name="Text 32"/>
          <p:cNvSpPr/>
          <p:nvPr/>
        </p:nvSpPr>
        <p:spPr>
          <a:xfrm>
            <a:off x="8275320" y="279806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 </a:t>
            </a:r>
            <a:pPr indent="0" marL="0">
              <a:buNone/>
            </a:pPr>
            <a:r>
              <a:rPr lang="en-US" sz="11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data validation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8065008" y="3346704"/>
            <a:ext cx="118872" cy="118872"/>
          </a:xfrm>
          <a:prstGeom prst="oval">
            <a:avLst/>
          </a:prstGeom>
          <a:solidFill>
            <a:srgbClr val="556675"/>
          </a:solidFill>
          <a:ln/>
        </p:spPr>
      </p:sp>
      <p:sp>
        <p:nvSpPr>
          <p:cNvPr id="40" name="Text 34"/>
          <p:cNvSpPr/>
          <p:nvPr/>
        </p:nvSpPr>
        <p:spPr>
          <a:xfrm>
            <a:off x="8275320" y="325526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</a:t>
            </a:r>
            <a:pPr indent="0" marL="0">
              <a:buNone/>
            </a:pPr>
            <a:r>
              <a:rPr lang="en-US" sz="11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tables / CSV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8065008" y="3803904"/>
            <a:ext cx="118872" cy="118872"/>
          </a:xfrm>
          <a:prstGeom prst="oval">
            <a:avLst/>
          </a:prstGeom>
          <a:solidFill>
            <a:srgbClr val="556675"/>
          </a:solidFill>
          <a:ln/>
        </p:spPr>
      </p:sp>
      <p:sp>
        <p:nvSpPr>
          <p:cNvPr id="42" name="Text 36"/>
          <p:cNvSpPr/>
          <p:nvPr/>
        </p:nvSpPr>
        <p:spPr>
          <a:xfrm>
            <a:off x="8275320" y="371246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PyYAML  </a:t>
            </a:r>
            <a:pPr indent="0" marL="0">
              <a:buNone/>
            </a:pPr>
            <a:r>
              <a:rPr lang="en-US" sz="11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config parsing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8065008" y="4261104"/>
            <a:ext cx="118872" cy="118872"/>
          </a:xfrm>
          <a:prstGeom prst="oval">
            <a:avLst/>
          </a:prstGeom>
          <a:solidFill>
            <a:srgbClr val="556675"/>
          </a:solidFill>
          <a:ln/>
        </p:spPr>
      </p:sp>
      <p:sp>
        <p:nvSpPr>
          <p:cNvPr id="44" name="Text 38"/>
          <p:cNvSpPr/>
          <p:nvPr/>
        </p:nvSpPr>
        <p:spPr>
          <a:xfrm>
            <a:off x="8275320" y="416966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typer  </a:t>
            </a:r>
            <a:pPr indent="0" marL="0">
              <a:buNone/>
            </a:pPr>
            <a:r>
              <a:rPr lang="en-US" sz="11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CLI</a:t>
            </a:r>
            <a:endParaRPr lang="en-US" sz="1150" dirty="0"/>
          </a:p>
        </p:txBody>
      </p:sp>
      <p:sp>
        <p:nvSpPr>
          <p:cNvPr id="45" name="Shape 39"/>
          <p:cNvSpPr/>
          <p:nvPr/>
        </p:nvSpPr>
        <p:spPr>
          <a:xfrm>
            <a:off x="8065008" y="4718304"/>
            <a:ext cx="118872" cy="118872"/>
          </a:xfrm>
          <a:prstGeom prst="oval">
            <a:avLst/>
          </a:prstGeom>
          <a:solidFill>
            <a:srgbClr val="556675"/>
          </a:solidFill>
          <a:ln/>
        </p:spPr>
      </p:sp>
      <p:sp>
        <p:nvSpPr>
          <p:cNvPr id="46" name="Text 40"/>
          <p:cNvSpPr/>
          <p:nvPr/>
        </p:nvSpPr>
        <p:spPr>
          <a:xfrm>
            <a:off x="8275320" y="462686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 </a:t>
            </a:r>
            <a:pPr indent="0" marL="0">
              <a:buNone/>
            </a:pPr>
            <a:r>
              <a:rPr lang="en-US" sz="11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tests</a:t>
            </a:r>
            <a:endParaRPr lang="en-US" sz="1150" dirty="0"/>
          </a:p>
        </p:txBody>
      </p:sp>
      <p:sp>
        <p:nvSpPr>
          <p:cNvPr id="47" name="Shape 41"/>
          <p:cNvSpPr/>
          <p:nvPr/>
        </p:nvSpPr>
        <p:spPr>
          <a:xfrm>
            <a:off x="8065008" y="5175504"/>
            <a:ext cx="118872" cy="118872"/>
          </a:xfrm>
          <a:prstGeom prst="oval">
            <a:avLst/>
          </a:prstGeom>
          <a:solidFill>
            <a:srgbClr val="556675"/>
          </a:solidFill>
          <a:ln/>
        </p:spPr>
      </p:sp>
      <p:sp>
        <p:nvSpPr>
          <p:cNvPr id="48" name="Text 42"/>
          <p:cNvSpPr/>
          <p:nvPr/>
        </p:nvSpPr>
        <p:spPr>
          <a:xfrm>
            <a:off x="8275320" y="508406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</a:t>
            </a:r>
            <a:pPr indent="0" marL="0">
              <a:buNone/>
            </a:pPr>
            <a:r>
              <a:rPr lang="en-US" sz="115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Phase 4 only — unused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23360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04672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phases — incremental delivery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2482596" cy="3566160"/>
          </a:xfrm>
          <a:prstGeom prst="rect">
            <a:avLst/>
          </a:prstGeom>
          <a:solidFill>
            <a:srgbClr val="13344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828800"/>
            <a:ext cx="2482596" cy="12801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1945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94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743200"/>
            <a:ext cx="1933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1248" y="3246120"/>
            <a:ext cx="1933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Minimal Prototype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3794760"/>
            <a:ext cx="19339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dry-run of the full LangGraph flow + reports + tests.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15284" y="1828800"/>
            <a:ext cx="2482596" cy="3566160"/>
          </a:xfrm>
          <a:prstGeom prst="rect">
            <a:avLst/>
          </a:prstGeom>
          <a:solidFill>
            <a:srgbClr val="13344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15284" y="1828800"/>
            <a:ext cx="2482596" cy="128016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5" name="Shape 13"/>
          <p:cNvSpPr/>
          <p:nvPr/>
        </p:nvSpPr>
        <p:spPr>
          <a:xfrm>
            <a:off x="3689604" y="21945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4A52A"/>
          </a:solidFill>
          <a:ln/>
        </p:spPr>
      </p:sp>
      <p:sp>
        <p:nvSpPr>
          <p:cNvPr id="16" name="Text 14"/>
          <p:cNvSpPr/>
          <p:nvPr/>
        </p:nvSpPr>
        <p:spPr>
          <a:xfrm>
            <a:off x="3689604" y="2194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89604" y="2743200"/>
            <a:ext cx="1933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89604" y="3246120"/>
            <a:ext cx="1933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Execution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89604" y="3794760"/>
            <a:ext cx="19339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generated commands; tool checks, exit codes, recovery, SLURM.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1828800"/>
            <a:ext cx="2482596" cy="3566160"/>
          </a:xfrm>
          <a:prstGeom prst="rect">
            <a:avLst/>
          </a:prstGeom>
          <a:solidFill>
            <a:srgbClr val="13344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1828800"/>
            <a:ext cx="2482596" cy="128016"/>
          </a:xfrm>
          <a:prstGeom prst="rect">
            <a:avLst/>
          </a:prstGeom>
          <a:solidFill>
            <a:srgbClr val="3E6E8E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21945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C4A5E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2194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3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2743200"/>
            <a:ext cx="1933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37960" y="3246120"/>
            <a:ext cx="1933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E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Bioinformatics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3794760"/>
            <a:ext cx="19339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 tools (Kraken2, DIAMOND, MEGAHIT, VirSorter2…).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11996" y="1828800"/>
            <a:ext cx="2482596" cy="3566160"/>
          </a:xfrm>
          <a:prstGeom prst="rect">
            <a:avLst/>
          </a:prstGeom>
          <a:solidFill>
            <a:srgbClr val="13344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11996" y="1828800"/>
            <a:ext cx="2482596" cy="128016"/>
          </a:xfrm>
          <a:prstGeom prst="rect">
            <a:avLst/>
          </a:prstGeom>
          <a:solidFill>
            <a:srgbClr val="5B5A8E"/>
          </a:solidFill>
          <a:ln/>
        </p:spPr>
      </p:sp>
      <p:sp>
        <p:nvSpPr>
          <p:cNvPr id="29" name="Shape 27"/>
          <p:cNvSpPr/>
          <p:nvPr/>
        </p:nvSpPr>
        <p:spPr>
          <a:xfrm>
            <a:off x="9386316" y="219456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C4A5E"/>
          </a:solidFill>
          <a:ln/>
        </p:spPr>
      </p:sp>
      <p:sp>
        <p:nvSpPr>
          <p:cNvPr id="30" name="Text 28"/>
          <p:cNvSpPr/>
          <p:nvPr/>
        </p:nvSpPr>
        <p:spPr>
          <a:xfrm>
            <a:off x="9386316" y="2194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3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86316" y="2743200"/>
            <a:ext cx="1933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386316" y="3246120"/>
            <a:ext cx="1933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A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Interpretation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386316" y="3794760"/>
            <a:ext cx="19339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LLM reasoning in nodes — interpretation, narrative, prose.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" y="576072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stays runnable; later phases never require rewriting earlier ones.  No LLM API key needed for Phases 1–3.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57200"/>
            <a:ext cx="146304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— delivered &amp; verified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Metagenomic Multi-Agent Virus Surveillance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2482596" cy="1371600"/>
          </a:xfrm>
          <a:prstGeom prst="rect">
            <a:avLst/>
          </a:prstGeom>
          <a:solidFill>
            <a:srgbClr val="0C2233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737360"/>
            <a:ext cx="2482596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920240"/>
            <a:ext cx="24825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66928" y="2697480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5284" y="1737360"/>
            <a:ext cx="2482596" cy="1371600"/>
          </a:xfrm>
          <a:prstGeom prst="rect">
            <a:avLst/>
          </a:prstGeom>
          <a:solidFill>
            <a:srgbClr val="0C2233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5284" y="1737360"/>
            <a:ext cx="2482596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3415284" y="1920240"/>
            <a:ext cx="24825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415284" y="2697480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nodes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737360"/>
            <a:ext cx="2482596" cy="1371600"/>
          </a:xfrm>
          <a:prstGeom prst="rect">
            <a:avLst/>
          </a:prstGeom>
          <a:solidFill>
            <a:srgbClr val="0C2233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737360"/>
            <a:ext cx="2482596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920240"/>
            <a:ext cx="24825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263640" y="2697480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commands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11996" y="1737360"/>
            <a:ext cx="2482596" cy="1371600"/>
          </a:xfrm>
          <a:prstGeom prst="rect">
            <a:avLst/>
          </a:prstGeom>
          <a:solidFill>
            <a:srgbClr val="0C2233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11996" y="1737360"/>
            <a:ext cx="2482596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9111996" y="1920240"/>
            <a:ext cx="24825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9111996" y="2697480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needed</a:t>
            </a:r>
            <a:endParaRPr lang="en-US" sz="12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438144"/>
            <a:ext cx="310896" cy="31089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24128" y="3383280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skeleton + pydantic config + manifest validation</a:t>
            </a:r>
            <a:endParaRPr lang="en-US" sz="125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438144"/>
            <a:ext cx="310896" cy="31089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766560" y="3383280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builds, compiles &amp; runs end-to-end</a:t>
            </a:r>
            <a:endParaRPr lang="en-US" sz="12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87952"/>
            <a:ext cx="310896" cy="31089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024128" y="4133088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nodes execute; conditional review routing works</a:t>
            </a:r>
            <a:endParaRPr lang="en-US" sz="125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187952"/>
            <a:ext cx="310896" cy="31089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66560" y="4133088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command generation for every bioinformatics step</a:t>
            </a:r>
            <a:endParaRPr lang="en-US" sz="12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937760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24128" y="4882896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CSV/JSON + Markdown &amp; HTML reports generated</a:t>
            </a:r>
            <a:endParaRPr lang="en-US" sz="12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937760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66560" y="4882896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 checkpointing; human-in-the-loop checkpoint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566928" y="598932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metamavs run --config configs/example_config.yaml --dry-run   →   completed_with_warnings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46304" cy="14630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57200"/>
            <a:ext cx="146304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3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run produces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MetaMAVS — Metagenomic Multi-Agent Virus Surveillance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59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5486400" cy="4297680"/>
          </a:xfrm>
          <a:prstGeom prst="rect">
            <a:avLst/>
          </a:prstGeom>
          <a:solidFill>
            <a:srgbClr val="0C2233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783080"/>
            <a:ext cx="5486400" cy="411480"/>
          </a:xfrm>
          <a:prstGeom prst="rect">
            <a:avLst/>
          </a:prstGeom>
          <a:solidFill>
            <a:srgbClr val="13344A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reports/&lt;run_name&gt;/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5528" y="237744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          metamavs.log, summaries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intermediate/  validated manifest, JSON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commands/      generated *.sh scripts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tables/        hits, taxonomy, abundance,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trends, risk, novel (CSV)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D9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report.md      Markdown report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AD9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report.html    HTML report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state.json     complete final state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dry-run detections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2286000"/>
            <a:ext cx="5193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286000"/>
            <a:ext cx="73152" cy="566928"/>
          </a:xfrm>
          <a:prstGeom prst="rect">
            <a:avLst/>
          </a:prstGeom>
          <a:solidFill>
            <a:srgbClr val="E5614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286000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SARS-CoV-2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28632" y="2404872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5614C"/>
          </a:solidFill>
          <a:ln/>
        </p:spPr>
      </p:sp>
      <p:sp>
        <p:nvSpPr>
          <p:cNvPr id="17" name="Text 15"/>
          <p:cNvSpPr/>
          <p:nvPr/>
        </p:nvSpPr>
        <p:spPr>
          <a:xfrm>
            <a:off x="9628632" y="2404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2999232"/>
            <a:ext cx="5193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999232"/>
            <a:ext cx="73152" cy="566928"/>
          </a:xfrm>
          <a:prstGeom prst="rect">
            <a:avLst/>
          </a:prstGeom>
          <a:solidFill>
            <a:srgbClr val="E5614C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99923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Influenza A virus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28632" y="311810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5614C"/>
          </a:solidFill>
          <a:ln/>
        </p:spPr>
      </p:sp>
      <p:sp>
        <p:nvSpPr>
          <p:cNvPr id="22" name="Text 20"/>
          <p:cNvSpPr/>
          <p:nvPr/>
        </p:nvSpPr>
        <p:spPr>
          <a:xfrm>
            <a:off x="9628632" y="31181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0" y="3712464"/>
            <a:ext cx="5193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712464"/>
            <a:ext cx="73152" cy="56692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712464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Escherichia phage T4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28632" y="3831336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0E8388"/>
          </a:solidFill>
          <a:ln/>
        </p:spPr>
      </p:sp>
      <p:sp>
        <p:nvSpPr>
          <p:cNvPr id="27" name="Text 25"/>
          <p:cNvSpPr/>
          <p:nvPr/>
        </p:nvSpPr>
        <p:spPr>
          <a:xfrm>
            <a:off x="9628632" y="3831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(phage)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4425696"/>
            <a:ext cx="5193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4425696"/>
            <a:ext cx="73152" cy="566928"/>
          </a:xfrm>
          <a:prstGeom prst="rect">
            <a:avLst/>
          </a:prstGeom>
          <a:solidFill>
            <a:srgbClr val="F4A52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425696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divergent RNA virus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28632" y="454456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4A52A"/>
          </a:solidFill>
          <a:ln/>
        </p:spPr>
      </p:sp>
      <p:sp>
        <p:nvSpPr>
          <p:cNvPr id="32" name="Text 30"/>
          <p:cNvSpPr/>
          <p:nvPr/>
        </p:nvSpPr>
        <p:spPr>
          <a:xfrm>
            <a:off x="9628632" y="4544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 candidate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0" y="5138928"/>
            <a:ext cx="5193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5138928"/>
            <a:ext cx="73152" cy="566928"/>
          </a:xfrm>
          <a:prstGeom prst="rect">
            <a:avLst/>
          </a:prstGeom>
          <a:solidFill>
            <a:srgbClr val="556675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5138928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low-complexity fragment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28632" y="52578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556675"/>
          </a:solidFill>
          <a:ln/>
        </p:spPr>
      </p:sp>
      <p:sp>
        <p:nvSpPr>
          <p:cNvPr id="37" name="Text 35"/>
          <p:cNvSpPr/>
          <p:nvPr/>
        </p:nvSpPr>
        <p:spPr>
          <a:xfrm>
            <a:off x="9628632" y="52578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Flagged FP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5897880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5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exercises every branch: risk escalation, phage flagging, novelty &amp; human review.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23360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04672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run it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11027664" cy="786384"/>
          </a:xfrm>
          <a:prstGeom prst="rect">
            <a:avLst/>
          </a:prstGeom>
          <a:solidFill>
            <a:srgbClr val="13344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975104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098548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182880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041648" y="1828800"/>
            <a:ext cx="7370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-e ".[dev]"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761488"/>
            <a:ext cx="11027664" cy="786384"/>
          </a:xfrm>
          <a:prstGeom prst="rect">
            <a:avLst/>
          </a:prstGeom>
          <a:solidFill>
            <a:srgbClr val="13344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8096" y="2907792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3031236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81328" y="2761488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 the graph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041648" y="2761488"/>
            <a:ext cx="7370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metamavs graph --config configs/example_config.yaml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3694176"/>
            <a:ext cx="11027664" cy="786384"/>
          </a:xfrm>
          <a:prstGeom prst="rect">
            <a:avLst/>
          </a:prstGeom>
          <a:solidFill>
            <a:srgbClr val="13344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68096" y="3840480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963924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81328" y="3694176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inputs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041648" y="3694176"/>
            <a:ext cx="7370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metamavs validate --config configs/example_config.yaml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66928" y="4626864"/>
            <a:ext cx="11027664" cy="786384"/>
          </a:xfrm>
          <a:prstGeom prst="rect">
            <a:avLst/>
          </a:prstGeom>
          <a:solidFill>
            <a:srgbClr val="13344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68096" y="4773168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896612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81328" y="462686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(dry-run)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4041648" y="4626864"/>
            <a:ext cx="7370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metamavs run --config configs/example_config.yaml --dry-run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566928" y="5559552"/>
            <a:ext cx="11027664" cy="786384"/>
          </a:xfrm>
          <a:prstGeom prst="rect">
            <a:avLst/>
          </a:prstGeom>
          <a:solidFill>
            <a:srgbClr val="13344A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68096" y="5705856"/>
            <a:ext cx="493776" cy="493776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5829300"/>
            <a:ext cx="246888" cy="2468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81328" y="5559552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041648" y="5559552"/>
            <a:ext cx="7370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   # 37 passing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23360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71600"/>
            <a:ext cx="914400" cy="914400"/>
          </a:xfrm>
          <a:prstGeom prst="oval">
            <a:avLst/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0C2233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MetaMAVS in one line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66928" y="2880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LangGraph multi-agent virus-surveillance workflow — deterministic today, LLM-ready tomorrow.</a:t>
            </a:r>
            <a:endParaRPr lang="en-US" sz="3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17880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delivered: 12 nodes, routing, HITL, reports, 37 tests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63600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roadmap; each phase stays runnable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093208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4128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is the sole framework; scientific caution throughout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566928" y="5943600"/>
            <a:ext cx="11027664" cy="457200"/>
          </a:xfrm>
          <a:prstGeom prst="rect">
            <a:avLst/>
          </a:prstGeom>
          <a:solidFill>
            <a:srgbClr val="13344A"/>
          </a:solidFill>
          <a:ln/>
        </p:spPr>
      </p:sp>
      <p:sp>
        <p:nvSpPr>
          <p:cNvPr id="15" name="Text 9"/>
          <p:cNvSpPr/>
          <p:nvPr/>
        </p:nvSpPr>
        <p:spPr>
          <a:xfrm>
            <a:off x="749808" y="5943600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 </a:t>
            </a:r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github.com/pengsihua2023/MetaMAVS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MetaMAVS — Team Introduction</dc:title>
  <dc:subject>PptxGenJS Presentation</dc:subject>
  <dc:creator>Sihua Peng</dc:creator>
  <cp:lastModifiedBy>Sihua Peng</cp:lastModifiedBy>
  <cp:revision>1</cp:revision>
  <dcterms:created xsi:type="dcterms:W3CDTF">2026-06-03T16:36:47Z</dcterms:created>
  <dcterms:modified xsi:type="dcterms:W3CDTF">2026-06-03T16:36:47Z</dcterms:modified>
</cp:coreProperties>
</file>